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last week. Based on what you described about the study, here's how we'd build it on AWS so your data is safe, your participants are protected, and you get clean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you we listened. These six points are straight from our conversation. Everything in the proposal maps back to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design so we're aligned on scale and structure. The architecture has to serve all three arms and capture the GPT-4 interactions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whole proposal. Each of the next slides walks one stage. Governance is not a stage at the end — it covers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about every box. The point: data flows left to right, and the dark bar — security and governance — sits under all of it. We'll zoom into each cluster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is standard, scalable web infrastructure. The part you'll care about is Lock: Object Lock makes the raw dataset immutable, which is exactly what a preregistered study needs to defend its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your IRB concerns. De-identification happens before any analyst has access. Macie double-checks our work. Lake Formation controls exactly who sees which columns. And if BCG won't hand over raw data at all, Clean Rooms is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Truth is the standout here — it's purpose-built for the human grading your study depends on, instead of a homemade spreadsheet. The rest is standard analysis tooling your team can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ever a question — from your IRB, from BCG's legal team, from a journal — we can show exactly who touched the data and prove the guardrails were in force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proof-of-listening slide in table form. Left column is your words; right column is the AWS answer. Nothing here is technology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next steps so you leave knowing what happens Monday. The asks from you are small and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you bring the science, we'll handle the secure infrastructure. Happy to take questions, and I'll send this deck plus a one-page architecture diagram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rgbClr val="A51C30"/>
          </a:solidFill>
          <a:ln/>
        </p:spPr>
      </p:sp>
      <p:sp>
        <p:nvSpPr>
          <p:cNvPr id="3" name="Text 1"/>
          <p:cNvSpPr/>
          <p:nvPr/>
        </p:nvSpPr>
        <p:spPr>
          <a:xfrm>
            <a:off x="868680" y="1051560"/>
            <a:ext cx="10058400" cy="365760"/>
          </a:xfrm>
          <a:prstGeom prst="rect">
            <a:avLst/>
          </a:prstGeom>
          <a:noFill/>
          <a:ln/>
        </p:spPr>
        <p:txBody>
          <a:bodyPr wrap="square" lIns="0" tIns="0" rIns="0" bIns="0" rtlCol="0" anchor="ctr"/>
          <a:lstStyle/>
          <a:p>
            <a:pPr indent="0" marL="0">
              <a:buNone/>
            </a:pPr>
            <a:r>
              <a:rPr lang="en-US" sz="1400" b="1" spc="400" kern="0" dirty="0">
                <a:solidFill>
                  <a:srgbClr val="C28F2C"/>
                </a:solidFill>
                <a:latin typeface="Calibri" pitchFamily="34" charset="0"/>
                <a:ea typeface="Calibri" pitchFamily="34" charset="-122"/>
                <a:cs typeface="Calibri" pitchFamily="34" charset="-120"/>
              </a:rPr>
              <a:t>HBS SOLUTIONS ARCHITECTURE</a:t>
            </a:r>
            <a:endParaRPr lang="en-US" sz="1400" dirty="0"/>
          </a:p>
        </p:txBody>
      </p:sp>
      <p:sp>
        <p:nvSpPr>
          <p:cNvPr id="4" name="Text 2"/>
          <p:cNvSpPr/>
          <p:nvPr/>
        </p:nvSpPr>
        <p:spPr>
          <a:xfrm>
            <a:off x="841248" y="1965960"/>
            <a:ext cx="10515600" cy="1828800"/>
          </a:xfrm>
          <a:prstGeom prst="rect">
            <a:avLst/>
          </a:prstGeom>
          <a:noFill/>
          <a:ln/>
        </p:spPr>
        <p:txBody>
          <a:bodyPr wrap="square" lIns="0" tIns="0" rIns="0" bIns="0" rtlCol="0" anchor="ctr"/>
          <a:lstStyle/>
          <a:p>
            <a:pPr indent="0" marL="0">
              <a:lnSpc>
                <a:spcPct val="102000"/>
              </a:lnSpc>
              <a:buNone/>
            </a:pPr>
            <a:r>
              <a:rPr lang="en-US" sz="4200" b="1" dirty="0">
                <a:solidFill>
                  <a:srgbClr val="FFFFFF"/>
                </a:solidFill>
                <a:latin typeface="Georgia" pitchFamily="34" charset="0"/>
                <a:ea typeface="Georgia" pitchFamily="34" charset="-122"/>
                <a:cs typeface="Georgia" pitchFamily="34" charset="-120"/>
              </a:rPr>
              <a:t>Securing &amp; Scaling Your</a:t>
            </a:r>
            <a:endParaRPr lang="en-US" sz="4200" dirty="0"/>
          </a:p>
          <a:p>
            <a:pPr indent="0" marL="0">
              <a:lnSpc>
                <a:spcPct val="102000"/>
              </a:lnSpc>
              <a:buNone/>
            </a:pPr>
            <a:r>
              <a:rPr lang="en-US" sz="4200" b="1" dirty="0">
                <a:solidFill>
                  <a:srgbClr val="FFFFFF"/>
                </a:solidFill>
                <a:latin typeface="Georgia" pitchFamily="34" charset="0"/>
                <a:ea typeface="Georgia" pitchFamily="34" charset="-122"/>
                <a:cs typeface="Georgia" pitchFamily="34" charset="-120"/>
              </a:rPr>
              <a:t>AI Field Experiment on AWS</a:t>
            </a:r>
            <a:endParaRPr lang="en-US" sz="4200" dirty="0"/>
          </a:p>
        </p:txBody>
      </p:sp>
      <p:sp>
        <p:nvSpPr>
          <p:cNvPr id="5" name="Text 3"/>
          <p:cNvSpPr/>
          <p:nvPr/>
        </p:nvSpPr>
        <p:spPr>
          <a:xfrm>
            <a:off x="868680" y="3977640"/>
            <a:ext cx="10241280" cy="457200"/>
          </a:xfrm>
          <a:prstGeom prst="rect">
            <a:avLst/>
          </a:prstGeom>
          <a:noFill/>
          <a:ln/>
        </p:spPr>
        <p:txBody>
          <a:bodyPr wrap="square" lIns="0" tIns="0" rIns="0" bIns="0" rtlCol="0" anchor="ctr"/>
          <a:lstStyle/>
          <a:p>
            <a:pPr indent="0" marL="0">
              <a:buNone/>
            </a:pPr>
            <a:r>
              <a:rPr lang="en-US" sz="1900" i="1" dirty="0">
                <a:solidFill>
                  <a:srgbClr val="CAD2E0"/>
                </a:solidFill>
                <a:latin typeface="Calibri" pitchFamily="34" charset="0"/>
                <a:ea typeface="Calibri" pitchFamily="34" charset="-122"/>
                <a:cs typeface="Calibri" pitchFamily="34" charset="-120"/>
              </a:rPr>
              <a:t>A proposed architecture for the “Jagged Technological Frontier” study</a:t>
            </a:r>
            <a:endParaRPr lang="en-US" sz="1900" dirty="0"/>
          </a:p>
        </p:txBody>
      </p:sp>
      <p:sp>
        <p:nvSpPr>
          <p:cNvPr id="6" name="Text 4"/>
          <p:cNvSpPr/>
          <p:nvPr/>
        </p:nvSpPr>
        <p:spPr>
          <a:xfrm>
            <a:off x="868680" y="5212080"/>
            <a:ext cx="10058400" cy="731520"/>
          </a:xfrm>
          <a:prstGeom prst="rect">
            <a:avLst/>
          </a:prstGeom>
          <a:noFill/>
          <a:ln/>
        </p:spPr>
        <p:txBody>
          <a:bodyPr wrap="square" lIns="0" tIns="0" rIns="0" bIns="0" rtlCol="0" anchor="ctr"/>
          <a:lstStyle/>
          <a:p>
            <a:pPr indent="0" marL="0">
              <a:buNone/>
            </a:pPr>
            <a:r>
              <a:rPr lang="en-US" sz="1300" dirty="0">
                <a:solidFill>
                  <a:srgbClr val="AEB7C6"/>
                </a:solidFill>
                <a:latin typeface="Calibri" pitchFamily="34" charset="0"/>
                <a:ea typeface="Calibri" pitchFamily="34" charset="-122"/>
                <a:cs typeface="Calibri" pitchFamily="34" charset="-120"/>
              </a:rPr>
              <a:t>Prepared for the Principal Investigator</a:t>
            </a:r>
            <a:endParaRPr lang="en-US" sz="1300" dirty="0"/>
          </a:p>
          <a:p>
            <a:pPr indent="0" marL="0">
              <a:buNone/>
            </a:pPr>
            <a:r>
              <a:rPr lang="en-US" sz="1300" dirty="0">
                <a:solidFill>
                  <a:srgbClr val="7E8799"/>
                </a:solidFill>
                <a:latin typeface="Calibri" pitchFamily="34" charset="0"/>
                <a:ea typeface="Calibri" pitchFamily="34" charset="-122"/>
                <a:cs typeface="Calibri" pitchFamily="34" charset="-120"/>
              </a:rPr>
              <a:t>Following our discovery meeting on study requirements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WHAT WE HEARD</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Before proposing anything — here's what matters to you</a:t>
            </a:r>
            <a:endParaRPr lang="en-US" sz="3000" dirty="0"/>
          </a:p>
        </p:txBody>
      </p:sp>
      <p:sp>
        <p:nvSpPr>
          <p:cNvPr id="4" name="Shape 2"/>
          <p:cNvSpPr/>
          <p:nvPr/>
        </p:nvSpPr>
        <p:spPr>
          <a:xfrm>
            <a:off x="502920" y="1691640"/>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691640"/>
            <a:ext cx="91440" cy="1417320"/>
          </a:xfrm>
          <a:prstGeom prst="rect">
            <a:avLst/>
          </a:prstGeom>
          <a:solidFill>
            <a:srgbClr val="A51C30"/>
          </a:solidFill>
          <a:ln w="12700">
            <a:solidFill>
              <a:srgbClr val="A51C30"/>
            </a:solidFill>
            <a:prstDash val="solid"/>
          </a:ln>
        </p:spPr>
      </p:sp>
      <p:sp>
        <p:nvSpPr>
          <p:cNvPr id="6" name="Shape 4"/>
          <p:cNvSpPr/>
          <p:nvPr/>
        </p:nvSpPr>
        <p:spPr>
          <a:xfrm>
            <a:off x="795528" y="2075688"/>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7" name="Text 5"/>
          <p:cNvSpPr/>
          <p:nvPr/>
        </p:nvSpPr>
        <p:spPr>
          <a:xfrm>
            <a:off x="795528" y="207568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8" name="Text 6"/>
          <p:cNvSpPr/>
          <p:nvPr/>
        </p:nvSpPr>
        <p:spPr>
          <a:xfrm>
            <a:off x="1600200" y="1911096"/>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Scale &amp; timing</a:t>
            </a:r>
            <a:endParaRPr lang="en-US" sz="1700" dirty="0"/>
          </a:p>
        </p:txBody>
      </p:sp>
      <p:sp>
        <p:nvSpPr>
          <p:cNvPr id="9" name="Text 7"/>
          <p:cNvSpPr/>
          <p:nvPr/>
        </p:nvSpPr>
        <p:spPr>
          <a:xfrm>
            <a:off x="1600200" y="2295144"/>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758 consultants, tasks completed under time pressure across 3 study arms.</a:t>
            </a:r>
            <a:endParaRPr lang="en-US" sz="1250" dirty="0"/>
          </a:p>
        </p:txBody>
      </p:sp>
      <p:sp>
        <p:nvSpPr>
          <p:cNvPr id="10" name="Shape 8"/>
          <p:cNvSpPr/>
          <p:nvPr/>
        </p:nvSpPr>
        <p:spPr>
          <a:xfrm>
            <a:off x="6355080" y="1691640"/>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6355080" y="1691640"/>
            <a:ext cx="91440" cy="1417320"/>
          </a:xfrm>
          <a:prstGeom prst="rect">
            <a:avLst/>
          </a:prstGeom>
          <a:solidFill>
            <a:srgbClr val="A51C30"/>
          </a:solidFill>
          <a:ln w="12700">
            <a:solidFill>
              <a:srgbClr val="A51C30"/>
            </a:solidFill>
            <a:prstDash val="solid"/>
          </a:ln>
        </p:spPr>
      </p:sp>
      <p:sp>
        <p:nvSpPr>
          <p:cNvPr id="12" name="Shape 10"/>
          <p:cNvSpPr/>
          <p:nvPr/>
        </p:nvSpPr>
        <p:spPr>
          <a:xfrm>
            <a:off x="6647688" y="2075688"/>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3" name="Text 11"/>
          <p:cNvSpPr/>
          <p:nvPr/>
        </p:nvSpPr>
        <p:spPr>
          <a:xfrm>
            <a:off x="6647688" y="207568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4" name="Text 12"/>
          <p:cNvSpPr/>
          <p:nvPr/>
        </p:nvSpPr>
        <p:spPr>
          <a:xfrm>
            <a:off x="7452360" y="1911096"/>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AI in the loop</a:t>
            </a:r>
            <a:endParaRPr lang="en-US" sz="1700" dirty="0"/>
          </a:p>
        </p:txBody>
      </p:sp>
      <p:sp>
        <p:nvSpPr>
          <p:cNvPr id="15" name="Text 13"/>
          <p:cNvSpPr/>
          <p:nvPr/>
        </p:nvSpPr>
        <p:spPr>
          <a:xfrm>
            <a:off x="7452360" y="2295144"/>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GPT-4 for two of three arms — every prompt and response captured.</a:t>
            </a:r>
            <a:endParaRPr lang="en-US" sz="1250" dirty="0"/>
          </a:p>
        </p:txBody>
      </p:sp>
      <p:sp>
        <p:nvSpPr>
          <p:cNvPr id="16" name="Shape 14"/>
          <p:cNvSpPr/>
          <p:nvPr/>
        </p:nvSpPr>
        <p:spPr>
          <a:xfrm>
            <a:off x="502920" y="3218688"/>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502920" y="3218688"/>
            <a:ext cx="91440" cy="1417320"/>
          </a:xfrm>
          <a:prstGeom prst="rect">
            <a:avLst/>
          </a:prstGeom>
          <a:solidFill>
            <a:srgbClr val="A51C30"/>
          </a:solidFill>
          <a:ln w="12700">
            <a:solidFill>
              <a:srgbClr val="A51C30"/>
            </a:solidFill>
            <a:prstDash val="solid"/>
          </a:ln>
        </p:spPr>
      </p:sp>
      <p:sp>
        <p:nvSpPr>
          <p:cNvPr id="18" name="Shape 16"/>
          <p:cNvSpPr/>
          <p:nvPr/>
        </p:nvSpPr>
        <p:spPr>
          <a:xfrm>
            <a:off x="795528" y="3602736"/>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9" name="Text 17"/>
          <p:cNvSpPr/>
          <p:nvPr/>
        </p:nvSpPr>
        <p:spPr>
          <a:xfrm>
            <a:off x="795528" y="360273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0" name="Text 18"/>
          <p:cNvSpPr/>
          <p:nvPr/>
        </p:nvSpPr>
        <p:spPr>
          <a:xfrm>
            <a:off x="1600200" y="3438144"/>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Sensitive data</a:t>
            </a:r>
            <a:endParaRPr lang="en-US" sz="1700" dirty="0"/>
          </a:p>
        </p:txBody>
      </p:sp>
      <p:sp>
        <p:nvSpPr>
          <p:cNvPr id="21" name="Text 19"/>
          <p:cNvSpPr/>
          <p:nvPr/>
        </p:nvSpPr>
        <p:spPr>
          <a:xfrm>
            <a:off x="1600200" y="3822192"/>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Employee PII and proprietary consulting tasks that must stay protected.</a:t>
            </a:r>
            <a:endParaRPr lang="en-US" sz="1250" dirty="0"/>
          </a:p>
        </p:txBody>
      </p:sp>
      <p:sp>
        <p:nvSpPr>
          <p:cNvPr id="22" name="Shape 20"/>
          <p:cNvSpPr/>
          <p:nvPr/>
        </p:nvSpPr>
        <p:spPr>
          <a:xfrm>
            <a:off x="6355080" y="3218688"/>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3" name="Shape 21"/>
          <p:cNvSpPr/>
          <p:nvPr/>
        </p:nvSpPr>
        <p:spPr>
          <a:xfrm>
            <a:off x="6355080" y="3218688"/>
            <a:ext cx="91440" cy="1417320"/>
          </a:xfrm>
          <a:prstGeom prst="rect">
            <a:avLst/>
          </a:prstGeom>
          <a:solidFill>
            <a:srgbClr val="A51C30"/>
          </a:solidFill>
          <a:ln w="12700">
            <a:solidFill>
              <a:srgbClr val="A51C30"/>
            </a:solidFill>
            <a:prstDash val="solid"/>
          </a:ln>
        </p:spPr>
      </p:sp>
      <p:sp>
        <p:nvSpPr>
          <p:cNvPr id="24" name="Shape 22"/>
          <p:cNvSpPr/>
          <p:nvPr/>
        </p:nvSpPr>
        <p:spPr>
          <a:xfrm>
            <a:off x="6647688" y="3602736"/>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25" name="Text 23"/>
          <p:cNvSpPr/>
          <p:nvPr/>
        </p:nvSpPr>
        <p:spPr>
          <a:xfrm>
            <a:off x="6647688" y="360273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6" name="Text 24"/>
          <p:cNvSpPr/>
          <p:nvPr/>
        </p:nvSpPr>
        <p:spPr>
          <a:xfrm>
            <a:off x="7452360" y="3438144"/>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Preregistration integrity</a:t>
            </a:r>
            <a:endParaRPr lang="en-US" sz="1700" dirty="0"/>
          </a:p>
        </p:txBody>
      </p:sp>
      <p:sp>
        <p:nvSpPr>
          <p:cNvPr id="27" name="Text 25"/>
          <p:cNvSpPr/>
          <p:nvPr/>
        </p:nvSpPr>
        <p:spPr>
          <a:xfrm>
            <a:off x="7452360" y="3822192"/>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raw, as-collected data has to be tamper-proof.</a:t>
            </a:r>
            <a:endParaRPr lang="en-US" sz="1250" dirty="0"/>
          </a:p>
        </p:txBody>
      </p:sp>
      <p:sp>
        <p:nvSpPr>
          <p:cNvPr id="28" name="Shape 26"/>
          <p:cNvSpPr/>
          <p:nvPr/>
        </p:nvSpPr>
        <p:spPr>
          <a:xfrm>
            <a:off x="502920" y="4745736"/>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9" name="Shape 27"/>
          <p:cNvSpPr/>
          <p:nvPr/>
        </p:nvSpPr>
        <p:spPr>
          <a:xfrm>
            <a:off x="502920" y="4745736"/>
            <a:ext cx="91440" cy="1417320"/>
          </a:xfrm>
          <a:prstGeom prst="rect">
            <a:avLst/>
          </a:prstGeom>
          <a:solidFill>
            <a:srgbClr val="A51C30"/>
          </a:solidFill>
          <a:ln w="12700">
            <a:solidFill>
              <a:srgbClr val="A51C30"/>
            </a:solidFill>
            <a:prstDash val="solid"/>
          </a:ln>
        </p:spPr>
      </p:sp>
      <p:sp>
        <p:nvSpPr>
          <p:cNvPr id="30" name="Shape 28"/>
          <p:cNvSpPr/>
          <p:nvPr/>
        </p:nvSpPr>
        <p:spPr>
          <a:xfrm>
            <a:off x="795528" y="5129784"/>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31" name="Text 29"/>
          <p:cNvSpPr/>
          <p:nvPr/>
        </p:nvSpPr>
        <p:spPr>
          <a:xfrm>
            <a:off x="795528" y="5129784"/>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32" name="Text 30"/>
          <p:cNvSpPr/>
          <p:nvPr/>
        </p:nvSpPr>
        <p:spPr>
          <a:xfrm>
            <a:off x="1600200" y="4965192"/>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Two-organization handoff</a:t>
            </a:r>
            <a:endParaRPr lang="en-US" sz="1700" dirty="0"/>
          </a:p>
        </p:txBody>
      </p:sp>
      <p:sp>
        <p:nvSpPr>
          <p:cNvPr id="33" name="Text 31"/>
          <p:cNvSpPr/>
          <p:nvPr/>
        </p:nvSpPr>
        <p:spPr>
          <a:xfrm>
            <a:off x="1600200" y="5349240"/>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BCG collects the data; your HBS team analyzes it.</a:t>
            </a:r>
            <a:endParaRPr lang="en-US" sz="1250" dirty="0"/>
          </a:p>
        </p:txBody>
      </p:sp>
      <p:sp>
        <p:nvSpPr>
          <p:cNvPr id="34" name="Shape 32"/>
          <p:cNvSpPr/>
          <p:nvPr/>
        </p:nvSpPr>
        <p:spPr>
          <a:xfrm>
            <a:off x="6355080" y="4745736"/>
            <a:ext cx="5349240" cy="14173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35" name="Shape 33"/>
          <p:cNvSpPr/>
          <p:nvPr/>
        </p:nvSpPr>
        <p:spPr>
          <a:xfrm>
            <a:off x="6355080" y="4745736"/>
            <a:ext cx="91440" cy="1417320"/>
          </a:xfrm>
          <a:prstGeom prst="rect">
            <a:avLst/>
          </a:prstGeom>
          <a:solidFill>
            <a:srgbClr val="A51C30"/>
          </a:solidFill>
          <a:ln w="12700">
            <a:solidFill>
              <a:srgbClr val="A51C30"/>
            </a:solidFill>
            <a:prstDash val="solid"/>
          </a:ln>
        </p:spPr>
      </p:sp>
      <p:sp>
        <p:nvSpPr>
          <p:cNvPr id="36" name="Shape 34"/>
          <p:cNvSpPr/>
          <p:nvPr/>
        </p:nvSpPr>
        <p:spPr>
          <a:xfrm>
            <a:off x="6647688" y="5129784"/>
            <a:ext cx="640080" cy="64008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37" name="Text 35"/>
          <p:cNvSpPr/>
          <p:nvPr/>
        </p:nvSpPr>
        <p:spPr>
          <a:xfrm>
            <a:off x="6647688" y="5129784"/>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38" name="Text 36"/>
          <p:cNvSpPr/>
          <p:nvPr/>
        </p:nvSpPr>
        <p:spPr>
          <a:xfrm>
            <a:off x="7452360" y="4965192"/>
            <a:ext cx="4069080" cy="36576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Rigorous evaluation</a:t>
            </a:r>
            <a:endParaRPr lang="en-US" sz="1700" dirty="0"/>
          </a:p>
        </p:txBody>
      </p:sp>
      <p:sp>
        <p:nvSpPr>
          <p:cNvPr id="39" name="Text 37"/>
          <p:cNvSpPr/>
          <p:nvPr/>
        </p:nvSpPr>
        <p:spPr>
          <a:xfrm>
            <a:off x="7452360" y="5349240"/>
            <a:ext cx="4114800" cy="713232"/>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Human grading of quality plus reproducible statistical analysis.</a:t>
            </a:r>
            <a:endParaRPr lang="en-US" sz="1250" dirty="0"/>
          </a:p>
        </p:txBody>
      </p:sp>
      <p:sp>
        <p:nvSpPr>
          <p:cNvPr id="40" name="Text 38"/>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41" name="Text 39"/>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YOUR STUDY AT A GLANCE</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A preregistered field experiment, run with BCG</a:t>
            </a:r>
            <a:endParaRPr lang="en-US" sz="3000" dirty="0"/>
          </a:p>
        </p:txBody>
      </p:sp>
      <p:sp>
        <p:nvSpPr>
          <p:cNvPr id="4" name="Shape 2"/>
          <p:cNvSpPr/>
          <p:nvPr/>
        </p:nvSpPr>
        <p:spPr>
          <a:xfrm>
            <a:off x="502920" y="1828800"/>
            <a:ext cx="3520440" cy="246888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828800"/>
            <a:ext cx="3520440" cy="128016"/>
          </a:xfrm>
          <a:prstGeom prst="rect">
            <a:avLst/>
          </a:prstGeom>
          <a:solidFill>
            <a:srgbClr val="A51C30"/>
          </a:solidFill>
          <a:ln w="12700">
            <a:solidFill>
              <a:srgbClr val="A51C30"/>
            </a:solidFill>
            <a:prstDash val="solid"/>
          </a:ln>
        </p:spPr>
      </p:sp>
      <p:sp>
        <p:nvSpPr>
          <p:cNvPr id="6" name="Text 4"/>
          <p:cNvSpPr/>
          <p:nvPr/>
        </p:nvSpPr>
        <p:spPr>
          <a:xfrm>
            <a:off x="502920" y="2194560"/>
            <a:ext cx="3520440" cy="1005840"/>
          </a:xfrm>
          <a:prstGeom prst="rect">
            <a:avLst/>
          </a:prstGeom>
          <a:noFill/>
          <a:ln/>
        </p:spPr>
        <p:txBody>
          <a:bodyPr wrap="square" lIns="0" tIns="0" rIns="0" bIns="0" rtlCol="0" anchor="ctr"/>
          <a:lstStyle/>
          <a:p>
            <a:pPr algn="ctr" indent="0" marL="0">
              <a:buNone/>
            </a:pPr>
            <a:r>
              <a:rPr lang="en-US" sz="6000" b="1" dirty="0">
                <a:solidFill>
                  <a:srgbClr val="A51C30"/>
                </a:solidFill>
                <a:latin typeface="Georgia" pitchFamily="34" charset="0"/>
                <a:ea typeface="Georgia" pitchFamily="34" charset="-122"/>
                <a:cs typeface="Georgia" pitchFamily="34" charset="-120"/>
              </a:rPr>
              <a:t>758</a:t>
            </a:r>
            <a:endParaRPr lang="en-US" sz="6000" dirty="0"/>
          </a:p>
        </p:txBody>
      </p:sp>
      <p:sp>
        <p:nvSpPr>
          <p:cNvPr id="7" name="Text 5"/>
          <p:cNvSpPr/>
          <p:nvPr/>
        </p:nvSpPr>
        <p:spPr>
          <a:xfrm>
            <a:off x="502920" y="3246120"/>
            <a:ext cx="3520440" cy="365760"/>
          </a:xfrm>
          <a:prstGeom prst="rect">
            <a:avLst/>
          </a:prstGeom>
          <a:noFill/>
          <a:ln/>
        </p:spPr>
        <p:txBody>
          <a:bodyPr wrap="square" lIns="0" tIns="0" rIns="0" bIns="0" rtlCol="0" anchor="ctr"/>
          <a:lstStyle/>
          <a:p>
            <a:pPr algn="ctr" indent="0" marL="0">
              <a:buNone/>
            </a:pPr>
            <a:r>
              <a:rPr lang="en-US" sz="1600" b="1" dirty="0">
                <a:solidFill>
                  <a:srgbClr val="152238"/>
                </a:solidFill>
                <a:latin typeface="Calibri" pitchFamily="34" charset="0"/>
                <a:ea typeface="Calibri" pitchFamily="34" charset="-122"/>
                <a:cs typeface="Calibri" pitchFamily="34" charset="-120"/>
              </a:rPr>
              <a:t>knowledge workers</a:t>
            </a:r>
            <a:endParaRPr lang="en-US" sz="1600" dirty="0"/>
          </a:p>
        </p:txBody>
      </p:sp>
      <p:sp>
        <p:nvSpPr>
          <p:cNvPr id="8" name="Text 6"/>
          <p:cNvSpPr/>
          <p:nvPr/>
        </p:nvSpPr>
        <p:spPr>
          <a:xfrm>
            <a:off x="685800" y="3611880"/>
            <a:ext cx="3154680" cy="548640"/>
          </a:xfrm>
          <a:prstGeom prst="rect">
            <a:avLst/>
          </a:prstGeom>
          <a:noFill/>
          <a:ln/>
        </p:spPr>
        <p:txBody>
          <a:bodyPr wrap="square" lIns="0" tIns="0" rIns="0" bIns="0" rtlCol="0" anchor="ctr"/>
          <a:lstStyle/>
          <a:p>
            <a:pPr algn="ctr" indent="0" marL="0">
              <a:buNone/>
            </a:pPr>
            <a:r>
              <a:rPr lang="en-US" sz="1200" dirty="0">
                <a:solidFill>
                  <a:srgbClr val="6E6E6E"/>
                </a:solidFill>
                <a:latin typeface="Calibri" pitchFamily="34" charset="0"/>
                <a:ea typeface="Calibri" pitchFamily="34" charset="-122"/>
                <a:cs typeface="Calibri" pitchFamily="34" charset="-120"/>
              </a:rPr>
              <a:t>randomized participants</a:t>
            </a:r>
            <a:endParaRPr lang="en-US" sz="1200" dirty="0"/>
          </a:p>
        </p:txBody>
      </p:sp>
      <p:sp>
        <p:nvSpPr>
          <p:cNvPr id="9" name="Shape 7"/>
          <p:cNvSpPr/>
          <p:nvPr/>
        </p:nvSpPr>
        <p:spPr>
          <a:xfrm>
            <a:off x="4297680" y="1828800"/>
            <a:ext cx="3520440" cy="246888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4297680" y="1828800"/>
            <a:ext cx="3520440" cy="128016"/>
          </a:xfrm>
          <a:prstGeom prst="rect">
            <a:avLst/>
          </a:prstGeom>
          <a:solidFill>
            <a:srgbClr val="A51C30"/>
          </a:solidFill>
          <a:ln w="12700">
            <a:solidFill>
              <a:srgbClr val="A51C30"/>
            </a:solidFill>
            <a:prstDash val="solid"/>
          </a:ln>
        </p:spPr>
      </p:sp>
      <p:sp>
        <p:nvSpPr>
          <p:cNvPr id="11" name="Text 9"/>
          <p:cNvSpPr/>
          <p:nvPr/>
        </p:nvSpPr>
        <p:spPr>
          <a:xfrm>
            <a:off x="4297680" y="2194560"/>
            <a:ext cx="3520440" cy="1005840"/>
          </a:xfrm>
          <a:prstGeom prst="rect">
            <a:avLst/>
          </a:prstGeom>
          <a:noFill/>
          <a:ln/>
        </p:spPr>
        <p:txBody>
          <a:bodyPr wrap="square" lIns="0" tIns="0" rIns="0" bIns="0" rtlCol="0" anchor="ctr"/>
          <a:lstStyle/>
          <a:p>
            <a:pPr algn="ctr" indent="0" marL="0">
              <a:buNone/>
            </a:pPr>
            <a:r>
              <a:rPr lang="en-US" sz="6000" b="1" dirty="0">
                <a:solidFill>
                  <a:srgbClr val="A51C30"/>
                </a:solidFill>
                <a:latin typeface="Georgia" pitchFamily="34" charset="0"/>
                <a:ea typeface="Georgia" pitchFamily="34" charset="-122"/>
                <a:cs typeface="Georgia" pitchFamily="34" charset="-120"/>
              </a:rPr>
              <a:t>3</a:t>
            </a:r>
            <a:endParaRPr lang="en-US" sz="6000" dirty="0"/>
          </a:p>
        </p:txBody>
      </p:sp>
      <p:sp>
        <p:nvSpPr>
          <p:cNvPr id="12" name="Text 10"/>
          <p:cNvSpPr/>
          <p:nvPr/>
        </p:nvSpPr>
        <p:spPr>
          <a:xfrm>
            <a:off x="4297680" y="3246120"/>
            <a:ext cx="3520440" cy="365760"/>
          </a:xfrm>
          <a:prstGeom prst="rect">
            <a:avLst/>
          </a:prstGeom>
          <a:noFill/>
          <a:ln/>
        </p:spPr>
        <p:txBody>
          <a:bodyPr wrap="square" lIns="0" tIns="0" rIns="0" bIns="0" rtlCol="0" anchor="ctr"/>
          <a:lstStyle/>
          <a:p>
            <a:pPr algn="ctr" indent="0" marL="0">
              <a:buNone/>
            </a:pPr>
            <a:r>
              <a:rPr lang="en-US" sz="1600" b="1" dirty="0">
                <a:solidFill>
                  <a:srgbClr val="152238"/>
                </a:solidFill>
                <a:latin typeface="Calibri" pitchFamily="34" charset="0"/>
                <a:ea typeface="Calibri" pitchFamily="34" charset="-122"/>
                <a:cs typeface="Calibri" pitchFamily="34" charset="-120"/>
              </a:rPr>
              <a:t>study arms</a:t>
            </a:r>
            <a:endParaRPr lang="en-US" sz="1600" dirty="0"/>
          </a:p>
        </p:txBody>
      </p:sp>
      <p:sp>
        <p:nvSpPr>
          <p:cNvPr id="13" name="Text 11"/>
          <p:cNvSpPr/>
          <p:nvPr/>
        </p:nvSpPr>
        <p:spPr>
          <a:xfrm>
            <a:off x="4480560" y="3611880"/>
            <a:ext cx="3154680" cy="548640"/>
          </a:xfrm>
          <a:prstGeom prst="rect">
            <a:avLst/>
          </a:prstGeom>
          <a:noFill/>
          <a:ln/>
        </p:spPr>
        <p:txBody>
          <a:bodyPr wrap="square" lIns="0" tIns="0" rIns="0" bIns="0" rtlCol="0" anchor="ctr"/>
          <a:lstStyle/>
          <a:p>
            <a:pPr algn="ctr" indent="0" marL="0">
              <a:buNone/>
            </a:pPr>
            <a:r>
              <a:rPr lang="en-US" sz="1200" dirty="0">
                <a:solidFill>
                  <a:srgbClr val="6E6E6E"/>
                </a:solidFill>
                <a:latin typeface="Calibri" pitchFamily="34" charset="0"/>
                <a:ea typeface="Calibri" pitchFamily="34" charset="-122"/>
                <a:cs typeface="Calibri" pitchFamily="34" charset="-120"/>
              </a:rPr>
              <a:t>no AI · GPT-4 · GPT-4 + training</a:t>
            </a:r>
            <a:endParaRPr lang="en-US" sz="1200" dirty="0"/>
          </a:p>
        </p:txBody>
      </p:sp>
      <p:sp>
        <p:nvSpPr>
          <p:cNvPr id="14" name="Shape 12"/>
          <p:cNvSpPr/>
          <p:nvPr/>
        </p:nvSpPr>
        <p:spPr>
          <a:xfrm>
            <a:off x="8092440" y="1828800"/>
            <a:ext cx="3520440" cy="246888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8092440" y="1828800"/>
            <a:ext cx="3520440" cy="128016"/>
          </a:xfrm>
          <a:prstGeom prst="rect">
            <a:avLst/>
          </a:prstGeom>
          <a:solidFill>
            <a:srgbClr val="A51C30"/>
          </a:solidFill>
          <a:ln w="12700">
            <a:solidFill>
              <a:srgbClr val="A51C30"/>
            </a:solidFill>
            <a:prstDash val="solid"/>
          </a:ln>
        </p:spPr>
      </p:sp>
      <p:sp>
        <p:nvSpPr>
          <p:cNvPr id="16" name="Text 14"/>
          <p:cNvSpPr/>
          <p:nvPr/>
        </p:nvSpPr>
        <p:spPr>
          <a:xfrm>
            <a:off x="8092440" y="2194560"/>
            <a:ext cx="3520440" cy="1005840"/>
          </a:xfrm>
          <a:prstGeom prst="rect">
            <a:avLst/>
          </a:prstGeom>
          <a:noFill/>
          <a:ln/>
        </p:spPr>
        <p:txBody>
          <a:bodyPr wrap="square" lIns="0" tIns="0" rIns="0" bIns="0" rtlCol="0" anchor="ctr"/>
          <a:lstStyle/>
          <a:p>
            <a:pPr algn="ctr" indent="0" marL="0">
              <a:buNone/>
            </a:pPr>
            <a:r>
              <a:rPr lang="en-US" sz="6000" b="1" dirty="0">
                <a:solidFill>
                  <a:srgbClr val="A51C30"/>
                </a:solidFill>
                <a:latin typeface="Georgia" pitchFamily="34" charset="0"/>
                <a:ea typeface="Georgia" pitchFamily="34" charset="-122"/>
                <a:cs typeface="Georgia" pitchFamily="34" charset="-120"/>
              </a:rPr>
              <a:t>18 + 1</a:t>
            </a:r>
            <a:endParaRPr lang="en-US" sz="6000" dirty="0"/>
          </a:p>
        </p:txBody>
      </p:sp>
      <p:sp>
        <p:nvSpPr>
          <p:cNvPr id="17" name="Text 15"/>
          <p:cNvSpPr/>
          <p:nvPr/>
        </p:nvSpPr>
        <p:spPr>
          <a:xfrm>
            <a:off x="8092440" y="3246120"/>
            <a:ext cx="3520440" cy="365760"/>
          </a:xfrm>
          <a:prstGeom prst="rect">
            <a:avLst/>
          </a:prstGeom>
          <a:noFill/>
          <a:ln/>
        </p:spPr>
        <p:txBody>
          <a:bodyPr wrap="square" lIns="0" tIns="0" rIns="0" bIns="0" rtlCol="0" anchor="ctr"/>
          <a:lstStyle/>
          <a:p>
            <a:pPr algn="ctr" indent="0" marL="0">
              <a:buNone/>
            </a:pPr>
            <a:r>
              <a:rPr lang="en-US" sz="1600" b="1" dirty="0">
                <a:solidFill>
                  <a:srgbClr val="152238"/>
                </a:solidFill>
                <a:latin typeface="Calibri" pitchFamily="34" charset="0"/>
                <a:ea typeface="Calibri" pitchFamily="34" charset="-122"/>
                <a:cs typeface="Calibri" pitchFamily="34" charset="-120"/>
              </a:rPr>
              <a:t>task types</a:t>
            </a:r>
            <a:endParaRPr lang="en-US" sz="1600" dirty="0"/>
          </a:p>
        </p:txBody>
      </p:sp>
      <p:sp>
        <p:nvSpPr>
          <p:cNvPr id="18" name="Text 16"/>
          <p:cNvSpPr/>
          <p:nvPr/>
        </p:nvSpPr>
        <p:spPr>
          <a:xfrm>
            <a:off x="8275320" y="3611880"/>
            <a:ext cx="3154680" cy="548640"/>
          </a:xfrm>
          <a:prstGeom prst="rect">
            <a:avLst/>
          </a:prstGeom>
          <a:noFill/>
          <a:ln/>
        </p:spPr>
        <p:txBody>
          <a:bodyPr wrap="square" lIns="0" tIns="0" rIns="0" bIns="0" rtlCol="0" anchor="ctr"/>
          <a:lstStyle/>
          <a:p>
            <a:pPr algn="ctr" indent="0" marL="0">
              <a:buNone/>
            </a:pPr>
            <a:r>
              <a:rPr lang="en-US" sz="1200" dirty="0">
                <a:solidFill>
                  <a:srgbClr val="6E6E6E"/>
                </a:solidFill>
                <a:latin typeface="Calibri" pitchFamily="34" charset="0"/>
                <a:ea typeface="Calibri" pitchFamily="34" charset="-122"/>
                <a:cs typeface="Calibri" pitchFamily="34" charset="-120"/>
              </a:rPr>
              <a:t>inside-frontier, plus one beyond it</a:t>
            </a:r>
            <a:endParaRPr lang="en-US" sz="1200" dirty="0"/>
          </a:p>
        </p:txBody>
      </p:sp>
      <p:sp>
        <p:nvSpPr>
          <p:cNvPr id="19" name="Text 17"/>
          <p:cNvSpPr/>
          <p:nvPr/>
        </p:nvSpPr>
        <p:spPr>
          <a:xfrm>
            <a:off x="502920" y="4709160"/>
            <a:ext cx="11155680" cy="731520"/>
          </a:xfrm>
          <a:prstGeom prst="rect">
            <a:avLst/>
          </a:prstGeom>
          <a:noFill/>
          <a:ln/>
        </p:spPr>
        <p:txBody>
          <a:bodyPr wrap="square" lIns="0" tIns="0" rIns="0" bIns="0" rtlCol="0" anchor="ctr"/>
          <a:lstStyle/>
          <a:p>
            <a:pPr indent="0" marL="0">
              <a:buNone/>
            </a:pPr>
            <a:r>
              <a:rPr lang="en-US" sz="1350" b="1" i="1" dirty="0">
                <a:solidFill>
                  <a:srgbClr val="152238"/>
                </a:solidFill>
                <a:latin typeface="Calibri" pitchFamily="34" charset="0"/>
                <a:ea typeface="Calibri" pitchFamily="34" charset="-122"/>
                <a:cs typeface="Calibri" pitchFamily="34" charset="-120"/>
              </a:rPr>
              <a:t>The finding you're testing against:  </a:t>
            </a:r>
            <a:pPr indent="0" marL="0">
              <a:buNone/>
            </a:pPr>
            <a:r>
              <a:rPr lang="en-US" sz="1350" i="1" dirty="0">
                <a:solidFill>
                  <a:srgbClr val="2B2B2B"/>
                </a:solidFill>
                <a:latin typeface="Calibri" pitchFamily="34" charset="0"/>
                <a:ea typeface="Calibri" pitchFamily="34" charset="-122"/>
                <a:cs typeface="Calibri" pitchFamily="34" charset="-120"/>
              </a:rPr>
              <a:t>inside the frontier AI helped (+12% tasks, +25% faster); on the task beyond it, AI users were 19% less likely to be correct.</a:t>
            </a:r>
            <a:endParaRPr lang="en-US" sz="1350" dirty="0"/>
          </a:p>
        </p:txBody>
      </p:sp>
      <p:sp>
        <p:nvSpPr>
          <p:cNvPr id="20" name="Text 18"/>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21" name="Text 19"/>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We follow your data through five stages</a:t>
            </a:r>
            <a:endParaRPr lang="en-US" sz="3000" dirty="0"/>
          </a:p>
        </p:txBody>
      </p:sp>
      <p:sp>
        <p:nvSpPr>
          <p:cNvPr id="4" name="Shape 2"/>
          <p:cNvSpPr/>
          <p:nvPr/>
        </p:nvSpPr>
        <p:spPr>
          <a:xfrm>
            <a:off x="502920" y="2377440"/>
            <a:ext cx="2103120" cy="2103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1188720" y="2651760"/>
            <a:ext cx="731520" cy="73152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1188720"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502920" y="3429000"/>
            <a:ext cx="2103120" cy="365760"/>
          </a:xfrm>
          <a:prstGeom prst="rect">
            <a:avLst/>
          </a:prstGeom>
          <a:noFill/>
          <a:ln/>
        </p:spPr>
        <p:txBody>
          <a:bodyPr wrap="square" lIns="0" tIns="0" rIns="0" bIns="0" rtlCol="0" anchor="ctr"/>
          <a:lstStyle/>
          <a:p>
            <a:pPr algn="ctr" indent="0" marL="0">
              <a:buNone/>
            </a:pPr>
            <a:r>
              <a:rPr lang="en-US" sz="1800" b="1" dirty="0">
                <a:solidFill>
                  <a:srgbClr val="152238"/>
                </a:solidFill>
                <a:latin typeface="Georgia" pitchFamily="34" charset="0"/>
                <a:ea typeface="Georgia" pitchFamily="34" charset="-122"/>
                <a:cs typeface="Georgia" pitchFamily="34" charset="-120"/>
              </a:rPr>
              <a:t>Capture</a:t>
            </a:r>
            <a:endParaRPr lang="en-US" sz="1800" dirty="0"/>
          </a:p>
        </p:txBody>
      </p:sp>
      <p:sp>
        <p:nvSpPr>
          <p:cNvPr id="8" name="Text 6"/>
          <p:cNvSpPr/>
          <p:nvPr/>
        </p:nvSpPr>
        <p:spPr>
          <a:xfrm>
            <a:off x="667512" y="3822192"/>
            <a:ext cx="1773936" cy="5486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Deliver tasks &amp; record every event</a:t>
            </a:r>
            <a:endParaRPr lang="en-US" sz="1150" dirty="0"/>
          </a:p>
        </p:txBody>
      </p:sp>
      <p:sp>
        <p:nvSpPr>
          <p:cNvPr id="9" name="Text 7"/>
          <p:cNvSpPr/>
          <p:nvPr/>
        </p:nvSpPr>
        <p:spPr>
          <a:xfrm>
            <a:off x="2414016" y="2788920"/>
            <a:ext cx="548640" cy="457200"/>
          </a:xfrm>
          <a:prstGeom prst="rect">
            <a:avLst/>
          </a:prstGeom>
          <a:noFill/>
          <a:ln/>
        </p:spPr>
        <p:txBody>
          <a:bodyPr wrap="square" lIns="0" tIns="0" rIns="0" bIns="0" rtlCol="0" anchor="ctr"/>
          <a:lstStyle/>
          <a:p>
            <a:pPr algn="ctr" indent="0" marL="0">
              <a:buNone/>
            </a:pPr>
            <a:r>
              <a:rPr lang="en-US" sz="2200" b="1" dirty="0">
                <a:solidFill>
                  <a:srgbClr val="A51C3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770632" y="2377440"/>
            <a:ext cx="2103120" cy="2103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3456432" y="2651760"/>
            <a:ext cx="731520" cy="73152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3456432"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2770632" y="3429000"/>
            <a:ext cx="2103120" cy="365760"/>
          </a:xfrm>
          <a:prstGeom prst="rect">
            <a:avLst/>
          </a:prstGeom>
          <a:noFill/>
          <a:ln/>
        </p:spPr>
        <p:txBody>
          <a:bodyPr wrap="square" lIns="0" tIns="0" rIns="0" bIns="0" rtlCol="0" anchor="ctr"/>
          <a:lstStyle/>
          <a:p>
            <a:pPr algn="ctr" indent="0" marL="0">
              <a:buNone/>
            </a:pPr>
            <a:r>
              <a:rPr lang="en-US" sz="1800" b="1" dirty="0">
                <a:solidFill>
                  <a:srgbClr val="152238"/>
                </a:solidFill>
                <a:latin typeface="Georgia" pitchFamily="34" charset="0"/>
                <a:ea typeface="Georgia" pitchFamily="34" charset="-122"/>
                <a:cs typeface="Georgia" pitchFamily="34" charset="-120"/>
              </a:rPr>
              <a:t>Lock</a:t>
            </a:r>
            <a:endParaRPr lang="en-US" sz="1800" dirty="0"/>
          </a:p>
        </p:txBody>
      </p:sp>
      <p:sp>
        <p:nvSpPr>
          <p:cNvPr id="14" name="Text 12"/>
          <p:cNvSpPr/>
          <p:nvPr/>
        </p:nvSpPr>
        <p:spPr>
          <a:xfrm>
            <a:off x="2935224" y="3822192"/>
            <a:ext cx="1773936" cy="5486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Freeze raw data, tamper-proof</a:t>
            </a:r>
            <a:endParaRPr lang="en-US" sz="1150" dirty="0"/>
          </a:p>
        </p:txBody>
      </p:sp>
      <p:sp>
        <p:nvSpPr>
          <p:cNvPr id="15" name="Text 13"/>
          <p:cNvSpPr/>
          <p:nvPr/>
        </p:nvSpPr>
        <p:spPr>
          <a:xfrm>
            <a:off x="4681728" y="2788920"/>
            <a:ext cx="548640" cy="457200"/>
          </a:xfrm>
          <a:prstGeom prst="rect">
            <a:avLst/>
          </a:prstGeom>
          <a:noFill/>
          <a:ln/>
        </p:spPr>
        <p:txBody>
          <a:bodyPr wrap="square" lIns="0" tIns="0" rIns="0" bIns="0" rtlCol="0" anchor="ctr"/>
          <a:lstStyle/>
          <a:p>
            <a:pPr algn="ctr" indent="0" marL="0">
              <a:buNone/>
            </a:pPr>
            <a:r>
              <a:rPr lang="en-US" sz="2200" b="1" dirty="0">
                <a:solidFill>
                  <a:srgbClr val="A51C3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038344" y="2377440"/>
            <a:ext cx="2103120" cy="2103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5724144" y="2651760"/>
            <a:ext cx="731520" cy="73152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8" name="Text 16"/>
          <p:cNvSpPr/>
          <p:nvPr/>
        </p:nvSpPr>
        <p:spPr>
          <a:xfrm>
            <a:off x="5724144"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5038344" y="3429000"/>
            <a:ext cx="2103120" cy="365760"/>
          </a:xfrm>
          <a:prstGeom prst="rect">
            <a:avLst/>
          </a:prstGeom>
          <a:noFill/>
          <a:ln/>
        </p:spPr>
        <p:txBody>
          <a:bodyPr wrap="square" lIns="0" tIns="0" rIns="0" bIns="0" rtlCol="0" anchor="ctr"/>
          <a:lstStyle/>
          <a:p>
            <a:pPr algn="ctr" indent="0" marL="0">
              <a:buNone/>
            </a:pPr>
            <a:r>
              <a:rPr lang="en-US" sz="1800" b="1" dirty="0">
                <a:solidFill>
                  <a:srgbClr val="152238"/>
                </a:solidFill>
                <a:latin typeface="Georgia" pitchFamily="34" charset="0"/>
                <a:ea typeface="Georgia" pitchFamily="34" charset="-122"/>
                <a:cs typeface="Georgia" pitchFamily="34" charset="-120"/>
              </a:rPr>
              <a:t>Protect</a:t>
            </a:r>
            <a:endParaRPr lang="en-US" sz="1800" dirty="0"/>
          </a:p>
        </p:txBody>
      </p:sp>
      <p:sp>
        <p:nvSpPr>
          <p:cNvPr id="20" name="Text 18"/>
          <p:cNvSpPr/>
          <p:nvPr/>
        </p:nvSpPr>
        <p:spPr>
          <a:xfrm>
            <a:off x="5202936" y="3822192"/>
            <a:ext cx="1773936" cy="5486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De-identify before anyone analyzes</a:t>
            </a:r>
            <a:endParaRPr lang="en-US" sz="1150" dirty="0"/>
          </a:p>
        </p:txBody>
      </p:sp>
      <p:sp>
        <p:nvSpPr>
          <p:cNvPr id="21" name="Text 19"/>
          <p:cNvSpPr/>
          <p:nvPr/>
        </p:nvSpPr>
        <p:spPr>
          <a:xfrm>
            <a:off x="6949440" y="2788920"/>
            <a:ext cx="548640" cy="457200"/>
          </a:xfrm>
          <a:prstGeom prst="rect">
            <a:avLst/>
          </a:prstGeom>
          <a:noFill/>
          <a:ln/>
        </p:spPr>
        <p:txBody>
          <a:bodyPr wrap="square" lIns="0" tIns="0" rIns="0" bIns="0" rtlCol="0" anchor="ctr"/>
          <a:lstStyle/>
          <a:p>
            <a:pPr algn="ctr" indent="0" marL="0">
              <a:buNone/>
            </a:pPr>
            <a:r>
              <a:rPr lang="en-US" sz="2200" b="1" dirty="0">
                <a:solidFill>
                  <a:srgbClr val="A51C30"/>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306056" y="2377440"/>
            <a:ext cx="2103120" cy="2103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3" name="Shape 21"/>
          <p:cNvSpPr/>
          <p:nvPr/>
        </p:nvSpPr>
        <p:spPr>
          <a:xfrm>
            <a:off x="7991856" y="2651760"/>
            <a:ext cx="731520" cy="73152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24" name="Text 22"/>
          <p:cNvSpPr/>
          <p:nvPr/>
        </p:nvSpPr>
        <p:spPr>
          <a:xfrm>
            <a:off x="7991856"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Text 23"/>
          <p:cNvSpPr/>
          <p:nvPr/>
        </p:nvSpPr>
        <p:spPr>
          <a:xfrm>
            <a:off x="7306056" y="3429000"/>
            <a:ext cx="2103120" cy="365760"/>
          </a:xfrm>
          <a:prstGeom prst="rect">
            <a:avLst/>
          </a:prstGeom>
          <a:noFill/>
          <a:ln/>
        </p:spPr>
        <p:txBody>
          <a:bodyPr wrap="square" lIns="0" tIns="0" rIns="0" bIns="0" rtlCol="0" anchor="ctr"/>
          <a:lstStyle/>
          <a:p>
            <a:pPr algn="ctr" indent="0" marL="0">
              <a:buNone/>
            </a:pPr>
            <a:r>
              <a:rPr lang="en-US" sz="1800" b="1" dirty="0">
                <a:solidFill>
                  <a:srgbClr val="152238"/>
                </a:solidFill>
                <a:latin typeface="Georgia" pitchFamily="34" charset="0"/>
                <a:ea typeface="Georgia" pitchFamily="34" charset="-122"/>
                <a:cs typeface="Georgia" pitchFamily="34" charset="-120"/>
              </a:rPr>
              <a:t>Analyze</a:t>
            </a:r>
            <a:endParaRPr lang="en-US" sz="1800" dirty="0"/>
          </a:p>
        </p:txBody>
      </p:sp>
      <p:sp>
        <p:nvSpPr>
          <p:cNvPr id="26" name="Text 24"/>
          <p:cNvSpPr/>
          <p:nvPr/>
        </p:nvSpPr>
        <p:spPr>
          <a:xfrm>
            <a:off x="7470648" y="3822192"/>
            <a:ext cx="1773936" cy="5486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Grade, explore, run the statistics</a:t>
            </a:r>
            <a:endParaRPr lang="en-US" sz="1150" dirty="0"/>
          </a:p>
        </p:txBody>
      </p:sp>
      <p:sp>
        <p:nvSpPr>
          <p:cNvPr id="27" name="Text 25"/>
          <p:cNvSpPr/>
          <p:nvPr/>
        </p:nvSpPr>
        <p:spPr>
          <a:xfrm>
            <a:off x="9217152" y="2788920"/>
            <a:ext cx="548640" cy="457200"/>
          </a:xfrm>
          <a:prstGeom prst="rect">
            <a:avLst/>
          </a:prstGeom>
          <a:noFill/>
          <a:ln/>
        </p:spPr>
        <p:txBody>
          <a:bodyPr wrap="square" lIns="0" tIns="0" rIns="0" bIns="0" rtlCol="0" anchor="ctr"/>
          <a:lstStyle/>
          <a:p>
            <a:pPr algn="ctr" indent="0" marL="0">
              <a:buNone/>
            </a:pPr>
            <a:r>
              <a:rPr lang="en-US" sz="2200" b="1" dirty="0">
                <a:solidFill>
                  <a:srgbClr val="A51C30"/>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573768" y="2377440"/>
            <a:ext cx="2103120" cy="2103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9" name="Shape 27"/>
          <p:cNvSpPr/>
          <p:nvPr/>
        </p:nvSpPr>
        <p:spPr>
          <a:xfrm>
            <a:off x="10259568" y="2651760"/>
            <a:ext cx="731520" cy="731520"/>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30" name="Text 28"/>
          <p:cNvSpPr/>
          <p:nvPr/>
        </p:nvSpPr>
        <p:spPr>
          <a:xfrm>
            <a:off x="10259568"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1" name="Text 29"/>
          <p:cNvSpPr/>
          <p:nvPr/>
        </p:nvSpPr>
        <p:spPr>
          <a:xfrm>
            <a:off x="9573768" y="3429000"/>
            <a:ext cx="2103120" cy="365760"/>
          </a:xfrm>
          <a:prstGeom prst="rect">
            <a:avLst/>
          </a:prstGeom>
          <a:noFill/>
          <a:ln/>
        </p:spPr>
        <p:txBody>
          <a:bodyPr wrap="square" lIns="0" tIns="0" rIns="0" bIns="0" rtlCol="0" anchor="ctr"/>
          <a:lstStyle/>
          <a:p>
            <a:pPr algn="ctr" indent="0" marL="0">
              <a:buNone/>
            </a:pPr>
            <a:r>
              <a:rPr lang="en-US" sz="1800" b="1" dirty="0">
                <a:solidFill>
                  <a:srgbClr val="152238"/>
                </a:solidFill>
                <a:latin typeface="Georgia" pitchFamily="34" charset="0"/>
                <a:ea typeface="Georgia" pitchFamily="34" charset="-122"/>
                <a:cs typeface="Georgia" pitchFamily="34" charset="-120"/>
              </a:rPr>
              <a:t>Govern</a:t>
            </a:r>
            <a:endParaRPr lang="en-US" sz="1800" dirty="0"/>
          </a:p>
        </p:txBody>
      </p:sp>
      <p:sp>
        <p:nvSpPr>
          <p:cNvPr id="32" name="Text 30"/>
          <p:cNvSpPr/>
          <p:nvPr/>
        </p:nvSpPr>
        <p:spPr>
          <a:xfrm>
            <a:off x="9738360" y="3822192"/>
            <a:ext cx="1773936" cy="5486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Encrypt, guard &amp; audit throughout</a:t>
            </a:r>
            <a:endParaRPr lang="en-US" sz="1150" dirty="0"/>
          </a:p>
        </p:txBody>
      </p:sp>
      <p:sp>
        <p:nvSpPr>
          <p:cNvPr id="33" name="Text 31"/>
          <p:cNvSpPr/>
          <p:nvPr/>
        </p:nvSpPr>
        <p:spPr>
          <a:xfrm>
            <a:off x="502920" y="4892040"/>
            <a:ext cx="11155680" cy="457200"/>
          </a:xfrm>
          <a:prstGeom prst="rect">
            <a:avLst/>
          </a:prstGeom>
          <a:noFill/>
          <a:ln/>
        </p:spPr>
        <p:txBody>
          <a:bodyPr wrap="square" lIns="0" tIns="0" rIns="0" bIns="0" rtlCol="0" anchor="ctr"/>
          <a:lstStyle/>
          <a:p>
            <a:pPr algn="ctr" indent="0" marL="0">
              <a:buNone/>
            </a:pPr>
            <a:r>
              <a:rPr lang="en-US" sz="1400" i="1" dirty="0">
                <a:solidFill>
                  <a:srgbClr val="6E6E6E"/>
                </a:solidFill>
                <a:latin typeface="Calibri" pitchFamily="34" charset="0"/>
                <a:ea typeface="Calibri" pitchFamily="34" charset="-122"/>
                <a:cs typeface="Calibri" pitchFamily="34" charset="-120"/>
              </a:rPr>
              <a:t>Capture → Lock → Protect → Analyze — with Govern wrapping all of it.</a:t>
            </a:r>
            <a:endParaRPr lang="en-US" sz="1400" dirty="0"/>
          </a:p>
        </p:txBody>
      </p:sp>
      <p:sp>
        <p:nvSpPr>
          <p:cNvPr id="34" name="Text 3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35" name="Text 33"/>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THE ARCHITECTURE</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Reference design, end to end</a:t>
            </a:r>
            <a:endParaRPr lang="en-US" sz="3000" dirty="0"/>
          </a:p>
        </p:txBody>
      </p:sp>
      <p:sp>
        <p:nvSpPr>
          <p:cNvPr id="4" name="Shape 2"/>
          <p:cNvSpPr/>
          <p:nvPr/>
        </p:nvSpPr>
        <p:spPr>
          <a:xfrm>
            <a:off x="502920" y="1783080"/>
            <a:ext cx="2697480" cy="237744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783080"/>
            <a:ext cx="2697480" cy="502920"/>
          </a:xfrm>
          <a:prstGeom prst="rect">
            <a:avLst/>
          </a:prstGeom>
          <a:solidFill>
            <a:srgbClr val="A51C30"/>
          </a:solidFill>
          <a:ln w="12700">
            <a:solidFill>
              <a:srgbClr val="A51C30"/>
            </a:solidFill>
            <a:prstDash val="solid"/>
          </a:ln>
        </p:spPr>
      </p:sp>
      <p:sp>
        <p:nvSpPr>
          <p:cNvPr id="6" name="Text 4"/>
          <p:cNvSpPr/>
          <p:nvPr/>
        </p:nvSpPr>
        <p:spPr>
          <a:xfrm>
            <a:off x="502920" y="1783080"/>
            <a:ext cx="26974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  Capture</a:t>
            </a:r>
            <a:endParaRPr lang="en-US" sz="1500" dirty="0"/>
          </a:p>
        </p:txBody>
      </p:sp>
      <p:sp>
        <p:nvSpPr>
          <p:cNvPr id="7" name="Text 5"/>
          <p:cNvSpPr/>
          <p:nvPr/>
        </p:nvSpPr>
        <p:spPr>
          <a:xfrm>
            <a:off x="667512" y="2441448"/>
            <a:ext cx="2386584"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CloudFront + ALB</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ECS / Fargate app</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Cognito sign-in</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Secrets Manager</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Data Firehose</a:t>
            </a:r>
            <a:endParaRPr lang="en-US" sz="1250" dirty="0"/>
          </a:p>
        </p:txBody>
      </p:sp>
      <p:sp>
        <p:nvSpPr>
          <p:cNvPr id="8" name="Text 6"/>
          <p:cNvSpPr/>
          <p:nvPr/>
        </p:nvSpPr>
        <p:spPr>
          <a:xfrm>
            <a:off x="2999232" y="2697480"/>
            <a:ext cx="512064" cy="457200"/>
          </a:xfrm>
          <a:prstGeom prst="rect">
            <a:avLst/>
          </a:prstGeom>
          <a:noFill/>
          <a:ln/>
        </p:spPr>
        <p:txBody>
          <a:bodyPr wrap="square" lIns="0" tIns="0" rIns="0" bIns="0" rtlCol="0" anchor="ctr"/>
          <a:lstStyle/>
          <a:p>
            <a:pPr algn="ctr" indent="0" marL="0">
              <a:buNone/>
            </a:pPr>
            <a:r>
              <a:rPr lang="en-US" sz="2000" b="1" dirty="0">
                <a:solidFill>
                  <a:srgbClr val="A51C3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310128" y="1783080"/>
            <a:ext cx="2697480" cy="237744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3310128" y="1783080"/>
            <a:ext cx="2697480" cy="502920"/>
          </a:xfrm>
          <a:prstGeom prst="rect">
            <a:avLst/>
          </a:prstGeom>
          <a:solidFill>
            <a:srgbClr val="A51C30"/>
          </a:solidFill>
          <a:ln w="12700">
            <a:solidFill>
              <a:srgbClr val="A51C30"/>
            </a:solidFill>
            <a:prstDash val="solid"/>
          </a:ln>
        </p:spPr>
      </p:sp>
      <p:sp>
        <p:nvSpPr>
          <p:cNvPr id="11" name="Text 9"/>
          <p:cNvSpPr/>
          <p:nvPr/>
        </p:nvSpPr>
        <p:spPr>
          <a:xfrm>
            <a:off x="3310128" y="1783080"/>
            <a:ext cx="26974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  Lock</a:t>
            </a:r>
            <a:endParaRPr lang="en-US" sz="1500" dirty="0"/>
          </a:p>
        </p:txBody>
      </p:sp>
      <p:sp>
        <p:nvSpPr>
          <p:cNvPr id="12" name="Text 10"/>
          <p:cNvSpPr/>
          <p:nvPr/>
        </p:nvSpPr>
        <p:spPr>
          <a:xfrm>
            <a:off x="3474720" y="2441448"/>
            <a:ext cx="2386584"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S3 raw zone</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Object Lock (WORM)</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Glacier + Backup</a:t>
            </a:r>
            <a:endParaRPr lang="en-US" sz="1250" dirty="0"/>
          </a:p>
        </p:txBody>
      </p:sp>
      <p:sp>
        <p:nvSpPr>
          <p:cNvPr id="13" name="Text 11"/>
          <p:cNvSpPr/>
          <p:nvPr/>
        </p:nvSpPr>
        <p:spPr>
          <a:xfrm>
            <a:off x="5806440" y="2697480"/>
            <a:ext cx="512064" cy="457200"/>
          </a:xfrm>
          <a:prstGeom prst="rect">
            <a:avLst/>
          </a:prstGeom>
          <a:noFill/>
          <a:ln/>
        </p:spPr>
        <p:txBody>
          <a:bodyPr wrap="square" lIns="0" tIns="0" rIns="0" bIns="0" rtlCol="0" anchor="ctr"/>
          <a:lstStyle/>
          <a:p>
            <a:pPr algn="ctr" indent="0" marL="0">
              <a:buNone/>
            </a:pPr>
            <a:r>
              <a:rPr lang="en-US" sz="2000" b="1" dirty="0">
                <a:solidFill>
                  <a:srgbClr val="A51C30"/>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117336" y="1783080"/>
            <a:ext cx="2697480" cy="237744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6117336" y="1783080"/>
            <a:ext cx="2697480" cy="502920"/>
          </a:xfrm>
          <a:prstGeom prst="rect">
            <a:avLst/>
          </a:prstGeom>
          <a:solidFill>
            <a:srgbClr val="A51C30"/>
          </a:solidFill>
          <a:ln w="12700">
            <a:solidFill>
              <a:srgbClr val="A51C30"/>
            </a:solidFill>
            <a:prstDash val="solid"/>
          </a:ln>
        </p:spPr>
      </p:sp>
      <p:sp>
        <p:nvSpPr>
          <p:cNvPr id="16" name="Text 14"/>
          <p:cNvSpPr/>
          <p:nvPr/>
        </p:nvSpPr>
        <p:spPr>
          <a:xfrm>
            <a:off x="6117336" y="1783080"/>
            <a:ext cx="26974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  Protect</a:t>
            </a:r>
            <a:endParaRPr lang="en-US" sz="1500" dirty="0"/>
          </a:p>
        </p:txBody>
      </p:sp>
      <p:sp>
        <p:nvSpPr>
          <p:cNvPr id="17" name="Text 15"/>
          <p:cNvSpPr/>
          <p:nvPr/>
        </p:nvSpPr>
        <p:spPr>
          <a:xfrm>
            <a:off x="6281928" y="2441448"/>
            <a:ext cx="2386584"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Glue + Lambda</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Macie PII scan</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Lake Formation share</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(Clean Rooms option)</a:t>
            </a:r>
            <a:endParaRPr lang="en-US" sz="1250" dirty="0"/>
          </a:p>
        </p:txBody>
      </p:sp>
      <p:sp>
        <p:nvSpPr>
          <p:cNvPr id="18" name="Text 16"/>
          <p:cNvSpPr/>
          <p:nvPr/>
        </p:nvSpPr>
        <p:spPr>
          <a:xfrm>
            <a:off x="8613648" y="2697480"/>
            <a:ext cx="512064" cy="457200"/>
          </a:xfrm>
          <a:prstGeom prst="rect">
            <a:avLst/>
          </a:prstGeom>
          <a:noFill/>
          <a:ln/>
        </p:spPr>
        <p:txBody>
          <a:bodyPr wrap="square" lIns="0" tIns="0" rIns="0" bIns="0" rtlCol="0" anchor="ctr"/>
          <a:lstStyle/>
          <a:p>
            <a:pPr algn="ctr" indent="0" marL="0">
              <a:buNone/>
            </a:pPr>
            <a:r>
              <a:rPr lang="en-US" sz="2000" b="1" dirty="0">
                <a:solidFill>
                  <a:srgbClr val="A51C30"/>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924544" y="1783080"/>
            <a:ext cx="2697480" cy="237744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8924544" y="1783080"/>
            <a:ext cx="2697480" cy="502920"/>
          </a:xfrm>
          <a:prstGeom prst="rect">
            <a:avLst/>
          </a:prstGeom>
          <a:solidFill>
            <a:srgbClr val="A51C30"/>
          </a:solidFill>
          <a:ln w="12700">
            <a:solidFill>
              <a:srgbClr val="A51C30"/>
            </a:solidFill>
            <a:prstDash val="solid"/>
          </a:ln>
        </p:spPr>
      </p:sp>
      <p:sp>
        <p:nvSpPr>
          <p:cNvPr id="21" name="Text 19"/>
          <p:cNvSpPr/>
          <p:nvPr/>
        </p:nvSpPr>
        <p:spPr>
          <a:xfrm>
            <a:off x="8924544" y="1783080"/>
            <a:ext cx="26974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  Analyze</a:t>
            </a:r>
            <a:endParaRPr lang="en-US" sz="1500" dirty="0"/>
          </a:p>
        </p:txBody>
      </p:sp>
      <p:sp>
        <p:nvSpPr>
          <p:cNvPr id="22" name="Text 20"/>
          <p:cNvSpPr/>
          <p:nvPr/>
        </p:nvSpPr>
        <p:spPr>
          <a:xfrm>
            <a:off x="9089136" y="2441448"/>
            <a:ext cx="2386584"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SageMaker Ground Truth</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Comprehend</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Athena · SageMaker</a:t>
            </a:r>
            <a:endParaRPr lang="en-US" sz="1250" dirty="0"/>
          </a:p>
          <a:p>
            <a:pPr marL="152400" indent="-1524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QuickSight</a:t>
            </a:r>
            <a:endParaRPr lang="en-US" sz="1250" dirty="0"/>
          </a:p>
        </p:txBody>
      </p:sp>
      <p:sp>
        <p:nvSpPr>
          <p:cNvPr id="23" name="Shape 21"/>
          <p:cNvSpPr/>
          <p:nvPr/>
        </p:nvSpPr>
        <p:spPr>
          <a:xfrm>
            <a:off x="502920" y="4389120"/>
            <a:ext cx="11183112" cy="777240"/>
          </a:xfrm>
          <a:prstGeom prst="rect">
            <a:avLst/>
          </a:prstGeom>
          <a:solidFill>
            <a:srgbClr val="152238"/>
          </a:solidFill>
          <a:ln w="12700">
            <a:solidFill>
              <a:srgbClr val="152238"/>
            </a:solidFill>
            <a:prstDash val="solid"/>
          </a:ln>
          <a:effectLst>
            <a:outerShdw sx="100000" sy="100000" kx="0" ky="0" algn="bl" rotWithShape="0" blurRad="88900" dist="38100" dir="8100000">
              <a:srgbClr val="000000">
                <a:alpha val="16000"/>
              </a:srgbClr>
            </a:outerShdw>
          </a:effectLst>
        </p:spPr>
      </p:sp>
      <p:sp>
        <p:nvSpPr>
          <p:cNvPr id="24" name="Text 22"/>
          <p:cNvSpPr/>
          <p:nvPr/>
        </p:nvSpPr>
        <p:spPr>
          <a:xfrm>
            <a:off x="685800" y="4389120"/>
            <a:ext cx="10881360" cy="777240"/>
          </a:xfrm>
          <a:prstGeom prst="rect">
            <a:avLst/>
          </a:prstGeom>
          <a:noFill/>
          <a:ln/>
        </p:spPr>
        <p:txBody>
          <a:bodyPr wrap="square" lIns="0" tIns="0" rIns="0" bIns="0" rtlCol="0" anchor="ctr"/>
          <a:lstStyle/>
          <a:p>
            <a:pPr indent="0" marL="0">
              <a:buNone/>
            </a:pPr>
            <a:r>
              <a:rPr lang="en-US" sz="1300" b="1" spc="200" kern="0" dirty="0">
                <a:solidFill>
                  <a:srgbClr val="C28F2C"/>
                </a:solidFill>
                <a:latin typeface="Calibri" pitchFamily="34" charset="0"/>
                <a:ea typeface="Calibri" pitchFamily="34" charset="-122"/>
                <a:cs typeface="Calibri" pitchFamily="34" charset="-120"/>
              </a:rPr>
              <a:t>GOVERNANCE  </a:t>
            </a:r>
            <a:pPr indent="0" marL="0">
              <a:buNone/>
            </a:pPr>
            <a:r>
              <a:rPr lang="en-US" sz="1300" dirty="0">
                <a:solidFill>
                  <a:srgbClr val="E6E9F0"/>
                </a:solidFill>
                <a:latin typeface="Calibri" pitchFamily="34" charset="0"/>
                <a:ea typeface="Calibri" pitchFamily="34" charset="-122"/>
                <a:cs typeface="Calibri" pitchFamily="34" charset="-120"/>
              </a:rPr>
              <a:t>Organizations + SCPs  ·  KMS encryption  ·  CloudTrail + Config + Security Hub  ·  IAM Identity Center</a:t>
            </a:r>
            <a:endParaRPr lang="en-US" sz="1300" dirty="0"/>
          </a:p>
        </p:txBody>
      </p:sp>
      <p:sp>
        <p:nvSpPr>
          <p:cNvPr id="25" name="Text 2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26" name="Text 24"/>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STAGES 1 &amp; 2</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Capture everything — then freeze it</a:t>
            </a:r>
            <a:endParaRPr lang="en-US" sz="3000" dirty="0"/>
          </a:p>
        </p:txBody>
      </p:sp>
      <p:sp>
        <p:nvSpPr>
          <p:cNvPr id="4" name="Shape 2"/>
          <p:cNvSpPr/>
          <p:nvPr/>
        </p:nvSpPr>
        <p:spPr>
          <a:xfrm>
            <a:off x="502920" y="1737360"/>
            <a:ext cx="5486400" cy="27432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737360"/>
            <a:ext cx="5486400" cy="502920"/>
          </a:xfrm>
          <a:prstGeom prst="rect">
            <a:avLst/>
          </a:prstGeom>
          <a:solidFill>
            <a:srgbClr val="A51C30"/>
          </a:solidFill>
          <a:ln w="12700">
            <a:solidFill>
              <a:srgbClr val="A51C30"/>
            </a:solidFill>
            <a:prstDash val="solid"/>
          </a:ln>
        </p:spPr>
      </p:sp>
      <p:sp>
        <p:nvSpPr>
          <p:cNvPr id="6" name="Text 4"/>
          <p:cNvSpPr/>
          <p:nvPr/>
        </p:nvSpPr>
        <p:spPr>
          <a:xfrm>
            <a:off x="685800" y="1737360"/>
            <a:ext cx="5120640" cy="50292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1  Capture &amp; deliver</a:t>
            </a:r>
            <a:endParaRPr lang="en-US" sz="1600" dirty="0"/>
          </a:p>
        </p:txBody>
      </p:sp>
      <p:sp>
        <p:nvSpPr>
          <p:cNvPr id="7" name="Text 5"/>
          <p:cNvSpPr/>
          <p:nvPr/>
        </p:nvSpPr>
        <p:spPr>
          <a:xfrm>
            <a:off x="731520" y="2423160"/>
            <a:ext cx="5029200" cy="18288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Task app on ECS / Fargate, fronted by CloudFront + ALB</a:t>
            </a:r>
            <a:endParaRPr lang="en-US" sz="1300" dirty="0"/>
          </a:p>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Cognito signs each participant into the right study arm</a:t>
            </a:r>
            <a:endParaRPr lang="en-US" sz="1300" dirty="0"/>
          </a:p>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GPT-4 key held in Secrets Manager — never in code</a:t>
            </a:r>
            <a:endParaRPr lang="en-US" sz="1300" dirty="0"/>
          </a:p>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Every submission, timing, and chat log streamed via Data Firehose</a:t>
            </a:r>
            <a:endParaRPr lang="en-US" sz="1300" dirty="0"/>
          </a:p>
        </p:txBody>
      </p:sp>
      <p:sp>
        <p:nvSpPr>
          <p:cNvPr id="8" name="Shape 6"/>
          <p:cNvSpPr/>
          <p:nvPr/>
        </p:nvSpPr>
        <p:spPr>
          <a:xfrm>
            <a:off x="6199632" y="1737360"/>
            <a:ext cx="5486400" cy="27432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6199632" y="1737360"/>
            <a:ext cx="5486400" cy="502920"/>
          </a:xfrm>
          <a:prstGeom prst="rect">
            <a:avLst/>
          </a:prstGeom>
          <a:solidFill>
            <a:srgbClr val="152238"/>
          </a:solidFill>
          <a:ln w="12700">
            <a:solidFill>
              <a:srgbClr val="152238"/>
            </a:solidFill>
            <a:prstDash val="solid"/>
          </a:ln>
        </p:spPr>
      </p:sp>
      <p:sp>
        <p:nvSpPr>
          <p:cNvPr id="10" name="Text 8"/>
          <p:cNvSpPr/>
          <p:nvPr/>
        </p:nvSpPr>
        <p:spPr>
          <a:xfrm>
            <a:off x="6382512" y="1737360"/>
            <a:ext cx="5120640" cy="50292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2  Lock (preregistration-safe)</a:t>
            </a:r>
            <a:endParaRPr lang="en-US" sz="1600" dirty="0"/>
          </a:p>
        </p:txBody>
      </p:sp>
      <p:sp>
        <p:nvSpPr>
          <p:cNvPr id="11" name="Text 9"/>
          <p:cNvSpPr/>
          <p:nvPr/>
        </p:nvSpPr>
        <p:spPr>
          <a:xfrm>
            <a:off x="6428232" y="2423160"/>
            <a:ext cx="5029200" cy="18288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Raw events land in an S3 bucket with Object Lock</a:t>
            </a:r>
            <a:endParaRPr lang="en-US" sz="1300" dirty="0"/>
          </a:p>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Object Lock = WORM: write once, read many</a:t>
            </a:r>
            <a:endParaRPr lang="en-US" sz="1300" dirty="0"/>
          </a:p>
          <a:p>
            <a:pPr marL="177800" indent="-1778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Long-term copies tier to Glacier via AWS Backup</a:t>
            </a:r>
            <a:endParaRPr lang="en-US" sz="1300" dirty="0"/>
          </a:p>
        </p:txBody>
      </p:sp>
      <p:sp>
        <p:nvSpPr>
          <p:cNvPr id="12" name="Shape 10"/>
          <p:cNvSpPr/>
          <p:nvPr/>
        </p:nvSpPr>
        <p:spPr>
          <a:xfrm>
            <a:off x="6199632" y="3703320"/>
            <a:ext cx="5486400" cy="713232"/>
          </a:xfrm>
          <a:prstGeom prst="rect">
            <a:avLst/>
          </a:prstGeom>
          <a:solidFill>
            <a:srgbClr val="EFE3D6"/>
          </a:solidFill>
          <a:ln w="12700">
            <a:solidFill>
              <a:srgbClr val="C28F2C"/>
            </a:solidFill>
            <a:prstDash val="solid"/>
          </a:ln>
        </p:spPr>
      </p:sp>
      <p:sp>
        <p:nvSpPr>
          <p:cNvPr id="13" name="Text 11"/>
          <p:cNvSpPr/>
          <p:nvPr/>
        </p:nvSpPr>
        <p:spPr>
          <a:xfrm>
            <a:off x="6355080" y="3703320"/>
            <a:ext cx="5212080" cy="713232"/>
          </a:xfrm>
          <a:prstGeom prst="rect">
            <a:avLst/>
          </a:prstGeom>
          <a:noFill/>
          <a:ln/>
        </p:spPr>
        <p:txBody>
          <a:bodyPr wrap="square" lIns="0" tIns="0" rIns="0" bIns="0" rtlCol="0" anchor="ctr"/>
          <a:lstStyle/>
          <a:p>
            <a:pPr indent="0" marL="0">
              <a:buNone/>
            </a:pPr>
            <a:r>
              <a:rPr lang="en-US" sz="1250" b="1" dirty="0">
                <a:solidFill>
                  <a:srgbClr val="7C1523"/>
                </a:solidFill>
                <a:latin typeface="Calibri" pitchFamily="34" charset="0"/>
                <a:ea typeface="Calibri" pitchFamily="34" charset="-122"/>
                <a:cs typeface="Calibri" pitchFamily="34" charset="-120"/>
              </a:rPr>
              <a:t>Why it matters:  </a:t>
            </a:r>
            <a:pPr indent="0" marL="0">
              <a:buNone/>
            </a:pPr>
            <a:r>
              <a:rPr lang="en-US" sz="1250" dirty="0">
                <a:solidFill>
                  <a:srgbClr val="2B2B2B"/>
                </a:solidFill>
                <a:latin typeface="Calibri" pitchFamily="34" charset="0"/>
                <a:ea typeface="Calibri" pitchFamily="34" charset="-122"/>
                <a:cs typeface="Calibri" pitchFamily="34" charset="-120"/>
              </a:rPr>
              <a:t>your as-collected data cannot be altered or deleted.</a:t>
            </a:r>
            <a:endParaRPr lang="en-US" sz="1250" dirty="0"/>
          </a:p>
        </p:txBody>
      </p:sp>
      <p:sp>
        <p:nvSpPr>
          <p:cNvPr id="14" name="Shape 12"/>
          <p:cNvSpPr/>
          <p:nvPr/>
        </p:nvSpPr>
        <p:spPr>
          <a:xfrm>
            <a:off x="502920" y="3703320"/>
            <a:ext cx="5486400" cy="713232"/>
          </a:xfrm>
          <a:prstGeom prst="rect">
            <a:avLst/>
          </a:prstGeom>
          <a:solidFill>
            <a:srgbClr val="ECEEF2"/>
          </a:solidFill>
          <a:ln w="12700">
            <a:solidFill>
              <a:srgbClr val="C9CEDA"/>
            </a:solidFill>
            <a:prstDash val="solid"/>
          </a:ln>
        </p:spPr>
      </p:sp>
      <p:sp>
        <p:nvSpPr>
          <p:cNvPr id="15" name="Text 13"/>
          <p:cNvSpPr/>
          <p:nvPr/>
        </p:nvSpPr>
        <p:spPr>
          <a:xfrm>
            <a:off x="658368" y="3703320"/>
            <a:ext cx="5212080" cy="7132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Fully serverless:  </a:t>
            </a:r>
            <a:pPr indent="0" marL="0">
              <a:buNone/>
            </a:pPr>
            <a:r>
              <a:rPr lang="en-US" sz="1250" dirty="0">
                <a:solidFill>
                  <a:srgbClr val="2B2B2B"/>
                </a:solidFill>
                <a:latin typeface="Calibri" pitchFamily="34" charset="0"/>
                <a:ea typeface="Calibri" pitchFamily="34" charset="-122"/>
                <a:cs typeface="Calibri" pitchFamily="34" charset="-120"/>
              </a:rPr>
              <a:t>ingestion scales to the whole cohort with no servers to manage.</a:t>
            </a:r>
            <a:endParaRPr lang="en-US" sz="1250" dirty="0"/>
          </a:p>
        </p:txBody>
      </p:sp>
      <p:sp>
        <p:nvSpPr>
          <p:cNvPr id="16" name="Text 1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17" name="Text 15"/>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STAGE 3 — THE PART YOU ASKED ABOUT MOST</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Protecting participants &amp; the BCG → HBS handoff</a:t>
            </a:r>
            <a:endParaRPr lang="en-US" sz="3000" dirty="0"/>
          </a:p>
        </p:txBody>
      </p:sp>
      <p:sp>
        <p:nvSpPr>
          <p:cNvPr id="4" name="Shape 2"/>
          <p:cNvSpPr/>
          <p:nvPr/>
        </p:nvSpPr>
        <p:spPr>
          <a:xfrm>
            <a:off x="502920" y="1828800"/>
            <a:ext cx="3566160" cy="18288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828800"/>
            <a:ext cx="91440" cy="1828800"/>
          </a:xfrm>
          <a:prstGeom prst="rect">
            <a:avLst/>
          </a:prstGeom>
          <a:solidFill>
            <a:srgbClr val="2F6F4F"/>
          </a:solidFill>
          <a:ln w="12700">
            <a:solidFill>
              <a:srgbClr val="2F6F4F"/>
            </a:solidFill>
            <a:prstDash val="solid"/>
          </a:ln>
        </p:spPr>
      </p:sp>
      <p:sp>
        <p:nvSpPr>
          <p:cNvPr id="6" name="Text 4"/>
          <p:cNvSpPr/>
          <p:nvPr/>
        </p:nvSpPr>
        <p:spPr>
          <a:xfrm>
            <a:off x="777240" y="2011680"/>
            <a:ext cx="3200400" cy="45720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Glue + Lambda</a:t>
            </a:r>
            <a:endParaRPr lang="en-US" sz="1700" dirty="0"/>
          </a:p>
        </p:txBody>
      </p:sp>
      <p:sp>
        <p:nvSpPr>
          <p:cNvPr id="7" name="Text 5"/>
          <p:cNvSpPr/>
          <p:nvPr/>
        </p:nvSpPr>
        <p:spPr>
          <a:xfrm>
            <a:off x="777240" y="2514600"/>
            <a:ext cx="3200400" cy="10058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Tokenize IDs, strip</a:t>
            </a:r>
            <a:endParaRPr lang="en-US" sz="1300" dirty="0"/>
          </a:p>
          <a:p>
            <a:pPr indent="0" marL="0">
              <a:buNone/>
            </a:pPr>
            <a:r>
              <a:rPr lang="en-US" sz="1300" dirty="0">
                <a:solidFill>
                  <a:srgbClr val="2B2B2B"/>
                </a:solidFill>
                <a:latin typeface="Calibri" pitchFamily="34" charset="0"/>
                <a:ea typeface="Calibri" pitchFamily="34" charset="-122"/>
                <a:cs typeface="Calibri" pitchFamily="34" charset="-120"/>
              </a:rPr>
              <a:t>direct identifiers</a:t>
            </a:r>
            <a:endParaRPr lang="en-US" sz="1300" dirty="0"/>
          </a:p>
        </p:txBody>
      </p:sp>
      <p:sp>
        <p:nvSpPr>
          <p:cNvPr id="8" name="Text 6"/>
          <p:cNvSpPr/>
          <p:nvPr/>
        </p:nvSpPr>
        <p:spPr>
          <a:xfrm>
            <a:off x="4069080" y="2331720"/>
            <a:ext cx="365760" cy="548640"/>
          </a:xfrm>
          <a:prstGeom prst="rect">
            <a:avLst/>
          </a:prstGeom>
          <a:noFill/>
          <a:ln/>
        </p:spPr>
        <p:txBody>
          <a:bodyPr wrap="square" lIns="0" tIns="0" rIns="0" bIns="0" rtlCol="0" anchor="ctr"/>
          <a:lstStyle/>
          <a:p>
            <a:pPr algn="ctr" indent="0" marL="0">
              <a:buNone/>
            </a:pPr>
            <a:r>
              <a:rPr lang="en-US" sz="2200" b="1" dirty="0">
                <a:solidFill>
                  <a:srgbClr val="2F6F4F"/>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434840" y="1828800"/>
            <a:ext cx="3566160" cy="18288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4434840" y="1828800"/>
            <a:ext cx="91440" cy="1828800"/>
          </a:xfrm>
          <a:prstGeom prst="rect">
            <a:avLst/>
          </a:prstGeom>
          <a:solidFill>
            <a:srgbClr val="2F6F4F"/>
          </a:solidFill>
          <a:ln w="12700">
            <a:solidFill>
              <a:srgbClr val="2F6F4F"/>
            </a:solidFill>
            <a:prstDash val="solid"/>
          </a:ln>
        </p:spPr>
      </p:sp>
      <p:sp>
        <p:nvSpPr>
          <p:cNvPr id="11" name="Text 9"/>
          <p:cNvSpPr/>
          <p:nvPr/>
        </p:nvSpPr>
        <p:spPr>
          <a:xfrm>
            <a:off x="4709160" y="2011680"/>
            <a:ext cx="3200400" cy="45720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Macie</a:t>
            </a:r>
            <a:endParaRPr lang="en-US" sz="1700" dirty="0"/>
          </a:p>
        </p:txBody>
      </p:sp>
      <p:sp>
        <p:nvSpPr>
          <p:cNvPr id="12" name="Text 10"/>
          <p:cNvSpPr/>
          <p:nvPr/>
        </p:nvSpPr>
        <p:spPr>
          <a:xfrm>
            <a:off x="4709160" y="2514600"/>
            <a:ext cx="3200400" cy="10058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ML scan confirms</a:t>
            </a:r>
            <a:endParaRPr lang="en-US" sz="1300" dirty="0"/>
          </a:p>
          <a:p>
            <a:pPr indent="0" marL="0">
              <a:buNone/>
            </a:pPr>
            <a:r>
              <a:rPr lang="en-US" sz="1300" dirty="0">
                <a:solidFill>
                  <a:srgbClr val="2B2B2B"/>
                </a:solidFill>
                <a:latin typeface="Calibri" pitchFamily="34" charset="0"/>
                <a:ea typeface="Calibri" pitchFamily="34" charset="-122"/>
                <a:cs typeface="Calibri" pitchFamily="34" charset="-120"/>
              </a:rPr>
              <a:t>no PII remains</a:t>
            </a:r>
            <a:endParaRPr lang="en-US" sz="1300" dirty="0"/>
          </a:p>
        </p:txBody>
      </p:sp>
      <p:sp>
        <p:nvSpPr>
          <p:cNvPr id="13" name="Text 11"/>
          <p:cNvSpPr/>
          <p:nvPr/>
        </p:nvSpPr>
        <p:spPr>
          <a:xfrm>
            <a:off x="8001000" y="2331720"/>
            <a:ext cx="365760" cy="548640"/>
          </a:xfrm>
          <a:prstGeom prst="rect">
            <a:avLst/>
          </a:prstGeom>
          <a:noFill/>
          <a:ln/>
        </p:spPr>
        <p:txBody>
          <a:bodyPr wrap="square" lIns="0" tIns="0" rIns="0" bIns="0" rtlCol="0" anchor="ctr"/>
          <a:lstStyle/>
          <a:p>
            <a:pPr algn="ctr" indent="0" marL="0">
              <a:buNone/>
            </a:pPr>
            <a:r>
              <a:rPr lang="en-US" sz="2200" b="1" dirty="0">
                <a:solidFill>
                  <a:srgbClr val="2F6F4F"/>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8366760" y="1828800"/>
            <a:ext cx="3566160" cy="18288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8366760" y="1828800"/>
            <a:ext cx="91440" cy="1828800"/>
          </a:xfrm>
          <a:prstGeom prst="rect">
            <a:avLst/>
          </a:prstGeom>
          <a:solidFill>
            <a:srgbClr val="2F6F4F"/>
          </a:solidFill>
          <a:ln w="12700">
            <a:solidFill>
              <a:srgbClr val="2F6F4F"/>
            </a:solidFill>
            <a:prstDash val="solid"/>
          </a:ln>
        </p:spPr>
      </p:sp>
      <p:sp>
        <p:nvSpPr>
          <p:cNvPr id="16" name="Text 14"/>
          <p:cNvSpPr/>
          <p:nvPr/>
        </p:nvSpPr>
        <p:spPr>
          <a:xfrm>
            <a:off x="8641080" y="2011680"/>
            <a:ext cx="3200400" cy="457200"/>
          </a:xfrm>
          <a:prstGeom prst="rect">
            <a:avLst/>
          </a:prstGeom>
          <a:noFill/>
          <a:ln/>
        </p:spPr>
        <p:txBody>
          <a:bodyPr wrap="square" lIns="0" tIns="0" rIns="0" bIns="0" rtlCol="0" anchor="ctr"/>
          <a:lstStyle/>
          <a:p>
            <a:pPr indent="0" marL="0">
              <a:buNone/>
            </a:pPr>
            <a:r>
              <a:rPr lang="en-US" sz="1700" b="1" dirty="0">
                <a:solidFill>
                  <a:srgbClr val="152238"/>
                </a:solidFill>
                <a:latin typeface="Georgia" pitchFamily="34" charset="0"/>
                <a:ea typeface="Georgia" pitchFamily="34" charset="-122"/>
                <a:cs typeface="Georgia" pitchFamily="34" charset="-120"/>
              </a:rPr>
              <a:t>Lake Formation</a:t>
            </a:r>
            <a:endParaRPr lang="en-US" sz="1700" dirty="0"/>
          </a:p>
        </p:txBody>
      </p:sp>
      <p:sp>
        <p:nvSpPr>
          <p:cNvPr id="17" name="Text 15"/>
          <p:cNvSpPr/>
          <p:nvPr/>
        </p:nvSpPr>
        <p:spPr>
          <a:xfrm>
            <a:off x="8641080" y="2514600"/>
            <a:ext cx="3200400" cy="10058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Cross-account share,</a:t>
            </a:r>
            <a:endParaRPr lang="en-US" sz="1300" dirty="0"/>
          </a:p>
          <a:p>
            <a:pPr indent="0" marL="0">
              <a:buNone/>
            </a:pPr>
            <a:r>
              <a:rPr lang="en-US" sz="1300" dirty="0">
                <a:solidFill>
                  <a:srgbClr val="2B2B2B"/>
                </a:solidFill>
                <a:latin typeface="Calibri" pitchFamily="34" charset="0"/>
                <a:ea typeface="Calibri" pitchFamily="34" charset="-122"/>
                <a:cs typeface="Calibri" pitchFamily="34" charset="-120"/>
              </a:rPr>
              <a:t>column-level masking</a:t>
            </a:r>
            <a:endParaRPr lang="en-US" sz="1300" dirty="0"/>
          </a:p>
        </p:txBody>
      </p:sp>
      <p:sp>
        <p:nvSpPr>
          <p:cNvPr id="18" name="Shape 16"/>
          <p:cNvSpPr/>
          <p:nvPr/>
        </p:nvSpPr>
        <p:spPr>
          <a:xfrm>
            <a:off x="502920" y="4023360"/>
            <a:ext cx="11183112" cy="1371600"/>
          </a:xfrm>
          <a:prstGeom prst="rect">
            <a:avLst/>
          </a:prstGeom>
          <a:solidFill>
            <a:srgbClr val="152238"/>
          </a:solidFill>
          <a:ln w="12700">
            <a:solidFill>
              <a:srgbClr val="152238"/>
            </a:solidFill>
            <a:prstDash val="solid"/>
          </a:ln>
          <a:effectLst>
            <a:outerShdw sx="100000" sy="100000" kx="0" ky="0" algn="bl" rotWithShape="0" blurRad="88900" dist="38100" dir="8100000">
              <a:srgbClr val="000000">
                <a:alpha val="16000"/>
              </a:srgbClr>
            </a:outerShdw>
          </a:effectLst>
        </p:spPr>
      </p:sp>
      <p:sp>
        <p:nvSpPr>
          <p:cNvPr id="19" name="Text 17"/>
          <p:cNvSpPr/>
          <p:nvPr/>
        </p:nvSpPr>
        <p:spPr>
          <a:xfrm>
            <a:off x="777240" y="4206240"/>
            <a:ext cx="106070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Researchers only ever see de-identified data.</a:t>
            </a:r>
            <a:endParaRPr lang="en-US" sz="2000" dirty="0"/>
          </a:p>
        </p:txBody>
      </p:sp>
      <p:sp>
        <p:nvSpPr>
          <p:cNvPr id="20" name="Text 18"/>
          <p:cNvSpPr/>
          <p:nvPr/>
        </p:nvSpPr>
        <p:spPr>
          <a:xfrm>
            <a:off x="777240" y="4709160"/>
            <a:ext cx="10607040" cy="640080"/>
          </a:xfrm>
          <a:prstGeom prst="rect">
            <a:avLst/>
          </a:prstGeom>
          <a:noFill/>
          <a:ln/>
        </p:spPr>
        <p:txBody>
          <a:bodyPr wrap="square" lIns="0" tIns="0" rIns="0" bIns="0" rtlCol="0" anchor="ctr"/>
          <a:lstStyle/>
          <a:p>
            <a:pPr indent="0" marL="0">
              <a:buNone/>
            </a:pPr>
            <a:r>
              <a:rPr lang="en-US" sz="1300" dirty="0">
                <a:solidFill>
                  <a:srgbClr val="CAD2E0"/>
                </a:solidFill>
                <a:latin typeface="Calibri" pitchFamily="34" charset="0"/>
                <a:ea typeface="Calibri" pitchFamily="34" charset="-122"/>
                <a:cs typeface="Calibri" pitchFamily="34" charset="-120"/>
              </a:rPr>
              <a:t>Raw PII never leaves the protected zone — IRB-ready by design.  </a:t>
            </a:r>
            <a:pPr indent="0" marL="0">
              <a:buNone/>
            </a:pPr>
            <a:r>
              <a:rPr lang="en-US" sz="1300" dirty="0">
                <a:solidFill>
                  <a:srgbClr val="C3CAD8"/>
                </a:solidFill>
                <a:latin typeface="Calibri" pitchFamily="34" charset="0"/>
                <a:ea typeface="Calibri" pitchFamily="34" charset="-122"/>
                <a:cs typeface="Calibri" pitchFamily="34" charset="-120"/>
              </a:rPr>
              <a:t>If BCG prefers to share nothing raw, AWS Clean Rooms lets both sides analyze a privacy-protected dataset jointly.</a:t>
            </a:r>
            <a:endParaRPr lang="en-US" sz="1300" dirty="0"/>
          </a:p>
        </p:txBody>
      </p:sp>
      <p:sp>
        <p:nvSpPr>
          <p:cNvPr id="21" name="Text 19"/>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22" name="Text 20"/>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STAGE 4</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From raw answers to findings</a:t>
            </a:r>
            <a:endParaRPr lang="en-US" sz="3000" dirty="0"/>
          </a:p>
        </p:txBody>
      </p:sp>
      <p:sp>
        <p:nvSpPr>
          <p:cNvPr id="4" name="Shape 2"/>
          <p:cNvSpPr/>
          <p:nvPr/>
        </p:nvSpPr>
        <p:spPr>
          <a:xfrm>
            <a:off x="502920" y="1783080"/>
            <a:ext cx="5532120" cy="128016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783080"/>
            <a:ext cx="91440" cy="1280160"/>
          </a:xfrm>
          <a:prstGeom prst="rect">
            <a:avLst/>
          </a:prstGeom>
          <a:solidFill>
            <a:srgbClr val="A51C30"/>
          </a:solidFill>
          <a:ln w="12700">
            <a:solidFill>
              <a:srgbClr val="A51C30"/>
            </a:solidFill>
            <a:prstDash val="solid"/>
          </a:ln>
        </p:spPr>
      </p:sp>
      <p:sp>
        <p:nvSpPr>
          <p:cNvPr id="6" name="Text 4"/>
          <p:cNvSpPr/>
          <p:nvPr/>
        </p:nvSpPr>
        <p:spPr>
          <a:xfrm>
            <a:off x="777240" y="1929384"/>
            <a:ext cx="5120640" cy="365760"/>
          </a:xfrm>
          <a:prstGeom prst="rect">
            <a:avLst/>
          </a:prstGeom>
          <a:noFill/>
          <a:ln/>
        </p:spPr>
        <p:txBody>
          <a:bodyPr wrap="square" lIns="0" tIns="0" rIns="0" bIns="0" rtlCol="0" anchor="ctr"/>
          <a:lstStyle/>
          <a:p>
            <a:pPr indent="0" marL="0">
              <a:buNone/>
            </a:pPr>
            <a:r>
              <a:rPr lang="en-US" sz="1600" b="1" dirty="0">
                <a:solidFill>
                  <a:srgbClr val="7C1523"/>
                </a:solidFill>
                <a:latin typeface="Georgia" pitchFamily="34" charset="0"/>
                <a:ea typeface="Georgia" pitchFamily="34" charset="-122"/>
                <a:cs typeface="Georgia" pitchFamily="34" charset="-120"/>
              </a:rPr>
              <a:t>SageMaker Ground Truth</a:t>
            </a:r>
            <a:endParaRPr lang="en-US" sz="1600" dirty="0"/>
          </a:p>
        </p:txBody>
      </p:sp>
      <p:sp>
        <p:nvSpPr>
          <p:cNvPr id="7" name="Text 5"/>
          <p:cNvSpPr/>
          <p:nvPr/>
        </p:nvSpPr>
        <p:spPr>
          <a:xfrm>
            <a:off x="777240" y="2313432"/>
            <a:ext cx="5120640" cy="68580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Managed human grading of submission quality — multiple graders, consensus, full audit trail.</a:t>
            </a:r>
            <a:endParaRPr lang="en-US" sz="1250" dirty="0"/>
          </a:p>
        </p:txBody>
      </p:sp>
      <p:sp>
        <p:nvSpPr>
          <p:cNvPr id="8" name="Shape 6"/>
          <p:cNvSpPr/>
          <p:nvPr/>
        </p:nvSpPr>
        <p:spPr>
          <a:xfrm>
            <a:off x="6245352" y="1783080"/>
            <a:ext cx="5532120" cy="128016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6245352" y="1783080"/>
            <a:ext cx="91440" cy="1280160"/>
          </a:xfrm>
          <a:prstGeom prst="rect">
            <a:avLst/>
          </a:prstGeom>
          <a:solidFill>
            <a:srgbClr val="A51C30"/>
          </a:solidFill>
          <a:ln w="12700">
            <a:solidFill>
              <a:srgbClr val="A51C30"/>
            </a:solidFill>
            <a:prstDash val="solid"/>
          </a:ln>
        </p:spPr>
      </p:sp>
      <p:sp>
        <p:nvSpPr>
          <p:cNvPr id="10" name="Text 8"/>
          <p:cNvSpPr/>
          <p:nvPr/>
        </p:nvSpPr>
        <p:spPr>
          <a:xfrm>
            <a:off x="6519672" y="1929384"/>
            <a:ext cx="5120640" cy="365760"/>
          </a:xfrm>
          <a:prstGeom prst="rect">
            <a:avLst/>
          </a:prstGeom>
          <a:noFill/>
          <a:ln/>
        </p:spPr>
        <p:txBody>
          <a:bodyPr wrap="square" lIns="0" tIns="0" rIns="0" bIns="0" rtlCol="0" anchor="ctr"/>
          <a:lstStyle/>
          <a:p>
            <a:pPr indent="0" marL="0">
              <a:buNone/>
            </a:pPr>
            <a:r>
              <a:rPr lang="en-US" sz="1600" b="1" dirty="0">
                <a:solidFill>
                  <a:srgbClr val="7C1523"/>
                </a:solidFill>
                <a:latin typeface="Georgia" pitchFamily="34" charset="0"/>
                <a:ea typeface="Georgia" pitchFamily="34" charset="-122"/>
                <a:cs typeface="Georgia" pitchFamily="34" charset="-120"/>
              </a:rPr>
              <a:t>Comprehend</a:t>
            </a:r>
            <a:endParaRPr lang="en-US" sz="1600" dirty="0"/>
          </a:p>
        </p:txBody>
      </p:sp>
      <p:sp>
        <p:nvSpPr>
          <p:cNvPr id="11" name="Text 9"/>
          <p:cNvSpPr/>
          <p:nvPr/>
        </p:nvSpPr>
        <p:spPr>
          <a:xfrm>
            <a:off x="6519672" y="2313432"/>
            <a:ext cx="5120640" cy="68580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Natural-language analysis of open-text answers and GPT-4 logs (sentiment, themes).</a:t>
            </a:r>
            <a:endParaRPr lang="en-US" sz="1250" dirty="0"/>
          </a:p>
        </p:txBody>
      </p:sp>
      <p:sp>
        <p:nvSpPr>
          <p:cNvPr id="12" name="Shape 10"/>
          <p:cNvSpPr/>
          <p:nvPr/>
        </p:nvSpPr>
        <p:spPr>
          <a:xfrm>
            <a:off x="502920" y="3200400"/>
            <a:ext cx="5532120" cy="128016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502920" y="3200400"/>
            <a:ext cx="91440" cy="1280160"/>
          </a:xfrm>
          <a:prstGeom prst="rect">
            <a:avLst/>
          </a:prstGeom>
          <a:solidFill>
            <a:srgbClr val="A51C30"/>
          </a:solidFill>
          <a:ln w="12700">
            <a:solidFill>
              <a:srgbClr val="A51C30"/>
            </a:solidFill>
            <a:prstDash val="solid"/>
          </a:ln>
        </p:spPr>
      </p:sp>
      <p:sp>
        <p:nvSpPr>
          <p:cNvPr id="14" name="Text 12"/>
          <p:cNvSpPr/>
          <p:nvPr/>
        </p:nvSpPr>
        <p:spPr>
          <a:xfrm>
            <a:off x="777240" y="3346704"/>
            <a:ext cx="5120640" cy="365760"/>
          </a:xfrm>
          <a:prstGeom prst="rect">
            <a:avLst/>
          </a:prstGeom>
          <a:noFill/>
          <a:ln/>
        </p:spPr>
        <p:txBody>
          <a:bodyPr wrap="square" lIns="0" tIns="0" rIns="0" bIns="0" rtlCol="0" anchor="ctr"/>
          <a:lstStyle/>
          <a:p>
            <a:pPr indent="0" marL="0">
              <a:buNone/>
            </a:pPr>
            <a:r>
              <a:rPr lang="en-US" sz="1600" b="1" dirty="0">
                <a:solidFill>
                  <a:srgbClr val="7C1523"/>
                </a:solidFill>
                <a:latin typeface="Georgia" pitchFamily="34" charset="0"/>
                <a:ea typeface="Georgia" pitchFamily="34" charset="-122"/>
                <a:cs typeface="Georgia" pitchFamily="34" charset="-120"/>
              </a:rPr>
              <a:t>Athena + SageMaker</a:t>
            </a:r>
            <a:endParaRPr lang="en-US" sz="1600" dirty="0"/>
          </a:p>
        </p:txBody>
      </p:sp>
      <p:sp>
        <p:nvSpPr>
          <p:cNvPr id="15" name="Text 13"/>
          <p:cNvSpPr/>
          <p:nvPr/>
        </p:nvSpPr>
        <p:spPr>
          <a:xfrm>
            <a:off x="777240" y="3730752"/>
            <a:ext cx="5120640" cy="68580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Serverless SQL exploration, then your preregistered regressions in notebooks (EMR if heavy).</a:t>
            </a:r>
            <a:endParaRPr lang="en-US" sz="1250" dirty="0"/>
          </a:p>
        </p:txBody>
      </p:sp>
      <p:sp>
        <p:nvSpPr>
          <p:cNvPr id="16" name="Shape 14"/>
          <p:cNvSpPr/>
          <p:nvPr/>
        </p:nvSpPr>
        <p:spPr>
          <a:xfrm>
            <a:off x="6245352" y="3200400"/>
            <a:ext cx="5532120" cy="128016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6245352" y="3200400"/>
            <a:ext cx="91440" cy="1280160"/>
          </a:xfrm>
          <a:prstGeom prst="rect">
            <a:avLst/>
          </a:prstGeom>
          <a:solidFill>
            <a:srgbClr val="A51C30"/>
          </a:solidFill>
          <a:ln w="12700">
            <a:solidFill>
              <a:srgbClr val="A51C30"/>
            </a:solidFill>
            <a:prstDash val="solid"/>
          </a:ln>
        </p:spPr>
      </p:sp>
      <p:sp>
        <p:nvSpPr>
          <p:cNvPr id="18" name="Text 16"/>
          <p:cNvSpPr/>
          <p:nvPr/>
        </p:nvSpPr>
        <p:spPr>
          <a:xfrm>
            <a:off x="6519672" y="3346704"/>
            <a:ext cx="5120640" cy="365760"/>
          </a:xfrm>
          <a:prstGeom prst="rect">
            <a:avLst/>
          </a:prstGeom>
          <a:noFill/>
          <a:ln/>
        </p:spPr>
        <p:txBody>
          <a:bodyPr wrap="square" lIns="0" tIns="0" rIns="0" bIns="0" rtlCol="0" anchor="ctr"/>
          <a:lstStyle/>
          <a:p>
            <a:pPr indent="0" marL="0">
              <a:buNone/>
            </a:pPr>
            <a:r>
              <a:rPr lang="en-US" sz="1600" b="1" dirty="0">
                <a:solidFill>
                  <a:srgbClr val="7C1523"/>
                </a:solidFill>
                <a:latin typeface="Georgia" pitchFamily="34" charset="0"/>
                <a:ea typeface="Georgia" pitchFamily="34" charset="-122"/>
                <a:cs typeface="Georgia" pitchFamily="34" charset="-120"/>
              </a:rPr>
              <a:t>QuickSight</a:t>
            </a:r>
            <a:endParaRPr lang="en-US" sz="1600" dirty="0"/>
          </a:p>
        </p:txBody>
      </p:sp>
      <p:sp>
        <p:nvSpPr>
          <p:cNvPr id="19" name="Text 17"/>
          <p:cNvSpPr/>
          <p:nvPr/>
        </p:nvSpPr>
        <p:spPr>
          <a:xfrm>
            <a:off x="6519672" y="3730752"/>
            <a:ext cx="5120640" cy="68580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Interactive dashboards of effects by arm and task — shareable views for your whole research team.</a:t>
            </a:r>
            <a:endParaRPr lang="en-US" sz="1250" dirty="0"/>
          </a:p>
        </p:txBody>
      </p:sp>
      <p:sp>
        <p:nvSpPr>
          <p:cNvPr id="20" name="Text 18"/>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21" name="Text 19"/>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THROUGHOUT — GOVERNANCE &amp; COMPLIANCE</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Built so it stands up to scrutiny</a:t>
            </a:r>
            <a:endParaRPr lang="en-US" sz="3000" dirty="0"/>
          </a:p>
        </p:txBody>
      </p:sp>
      <p:sp>
        <p:nvSpPr>
          <p:cNvPr id="4" name="Shape 2"/>
          <p:cNvSpPr/>
          <p:nvPr/>
        </p:nvSpPr>
        <p:spPr>
          <a:xfrm>
            <a:off x="502920" y="1783080"/>
            <a:ext cx="11183112" cy="960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502920" y="1783080"/>
            <a:ext cx="91440" cy="960120"/>
          </a:xfrm>
          <a:prstGeom prst="rect">
            <a:avLst/>
          </a:prstGeom>
          <a:solidFill>
            <a:srgbClr val="C28F2C"/>
          </a:solidFill>
          <a:ln w="12700">
            <a:solidFill>
              <a:srgbClr val="C28F2C"/>
            </a:solidFill>
            <a:prstDash val="solid"/>
          </a:ln>
        </p:spPr>
      </p:sp>
      <p:sp>
        <p:nvSpPr>
          <p:cNvPr id="6" name="Text 4"/>
          <p:cNvSpPr/>
          <p:nvPr/>
        </p:nvSpPr>
        <p:spPr>
          <a:xfrm>
            <a:off x="777240" y="1892808"/>
            <a:ext cx="3931920" cy="731520"/>
          </a:xfrm>
          <a:prstGeom prst="rect">
            <a:avLst/>
          </a:prstGeom>
          <a:noFill/>
          <a:ln/>
        </p:spPr>
        <p:txBody>
          <a:bodyPr wrap="square" lIns="0" tIns="0" rIns="0" bIns="0" rtlCol="0" anchor="ctr"/>
          <a:lstStyle/>
          <a:p>
            <a:pPr indent="0" marL="0">
              <a:buNone/>
            </a:pPr>
            <a:r>
              <a:rPr lang="en-US" sz="1550" b="1" dirty="0">
                <a:solidFill>
                  <a:srgbClr val="152238"/>
                </a:solidFill>
                <a:latin typeface="Georgia" pitchFamily="34" charset="0"/>
                <a:ea typeface="Georgia" pitchFamily="34" charset="-122"/>
                <a:cs typeface="Georgia" pitchFamily="34" charset="-120"/>
              </a:rPr>
              <a:t>Organizations + SCPs</a:t>
            </a:r>
            <a:endParaRPr lang="en-US" sz="1550" dirty="0"/>
          </a:p>
        </p:txBody>
      </p:sp>
      <p:sp>
        <p:nvSpPr>
          <p:cNvPr id="7" name="Text 5"/>
          <p:cNvSpPr/>
          <p:nvPr/>
        </p:nvSpPr>
        <p:spPr>
          <a:xfrm>
            <a:off x="4846320" y="1874520"/>
            <a:ext cx="6400800" cy="77724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Org-wide guardrails: lock data to an approved Region, forbid disabling logging — even an admin can't bypass them.</a:t>
            </a:r>
            <a:endParaRPr lang="en-US" sz="1250" dirty="0"/>
          </a:p>
        </p:txBody>
      </p:sp>
      <p:sp>
        <p:nvSpPr>
          <p:cNvPr id="8" name="Shape 6"/>
          <p:cNvSpPr/>
          <p:nvPr/>
        </p:nvSpPr>
        <p:spPr>
          <a:xfrm>
            <a:off x="502920" y="2862072"/>
            <a:ext cx="11183112" cy="960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502920" y="2862072"/>
            <a:ext cx="91440" cy="960120"/>
          </a:xfrm>
          <a:prstGeom prst="rect">
            <a:avLst/>
          </a:prstGeom>
          <a:solidFill>
            <a:srgbClr val="C28F2C"/>
          </a:solidFill>
          <a:ln w="12700">
            <a:solidFill>
              <a:srgbClr val="C28F2C"/>
            </a:solidFill>
            <a:prstDash val="solid"/>
          </a:ln>
        </p:spPr>
      </p:sp>
      <p:sp>
        <p:nvSpPr>
          <p:cNvPr id="10" name="Text 8"/>
          <p:cNvSpPr/>
          <p:nvPr/>
        </p:nvSpPr>
        <p:spPr>
          <a:xfrm>
            <a:off x="777240" y="2971800"/>
            <a:ext cx="3931920" cy="731520"/>
          </a:xfrm>
          <a:prstGeom prst="rect">
            <a:avLst/>
          </a:prstGeom>
          <a:noFill/>
          <a:ln/>
        </p:spPr>
        <p:txBody>
          <a:bodyPr wrap="square" lIns="0" tIns="0" rIns="0" bIns="0" rtlCol="0" anchor="ctr"/>
          <a:lstStyle/>
          <a:p>
            <a:pPr indent="0" marL="0">
              <a:buNone/>
            </a:pPr>
            <a:r>
              <a:rPr lang="en-US" sz="1550" b="1" dirty="0">
                <a:solidFill>
                  <a:srgbClr val="152238"/>
                </a:solidFill>
                <a:latin typeface="Georgia" pitchFamily="34" charset="0"/>
                <a:ea typeface="Georgia" pitchFamily="34" charset="-122"/>
                <a:cs typeface="Georgia" pitchFamily="34" charset="-120"/>
              </a:rPr>
              <a:t>KMS encryption</a:t>
            </a:r>
            <a:endParaRPr lang="en-US" sz="1550" dirty="0"/>
          </a:p>
        </p:txBody>
      </p:sp>
      <p:sp>
        <p:nvSpPr>
          <p:cNvPr id="11" name="Text 9"/>
          <p:cNvSpPr/>
          <p:nvPr/>
        </p:nvSpPr>
        <p:spPr>
          <a:xfrm>
            <a:off x="4846320" y="2953512"/>
            <a:ext cx="6400800" cy="77724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Every bucket and volume encrypted with keys you control.</a:t>
            </a:r>
            <a:endParaRPr lang="en-US" sz="1250" dirty="0"/>
          </a:p>
        </p:txBody>
      </p:sp>
      <p:sp>
        <p:nvSpPr>
          <p:cNvPr id="12" name="Shape 10"/>
          <p:cNvSpPr/>
          <p:nvPr/>
        </p:nvSpPr>
        <p:spPr>
          <a:xfrm>
            <a:off x="502920" y="3941064"/>
            <a:ext cx="11183112" cy="960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502920" y="3941064"/>
            <a:ext cx="91440" cy="960120"/>
          </a:xfrm>
          <a:prstGeom prst="rect">
            <a:avLst/>
          </a:prstGeom>
          <a:solidFill>
            <a:srgbClr val="C28F2C"/>
          </a:solidFill>
          <a:ln w="12700">
            <a:solidFill>
              <a:srgbClr val="C28F2C"/>
            </a:solidFill>
            <a:prstDash val="solid"/>
          </a:ln>
        </p:spPr>
      </p:sp>
      <p:sp>
        <p:nvSpPr>
          <p:cNvPr id="14" name="Text 12"/>
          <p:cNvSpPr/>
          <p:nvPr/>
        </p:nvSpPr>
        <p:spPr>
          <a:xfrm>
            <a:off x="777240" y="4050792"/>
            <a:ext cx="3931920" cy="731520"/>
          </a:xfrm>
          <a:prstGeom prst="rect">
            <a:avLst/>
          </a:prstGeom>
          <a:noFill/>
          <a:ln/>
        </p:spPr>
        <p:txBody>
          <a:bodyPr wrap="square" lIns="0" tIns="0" rIns="0" bIns="0" rtlCol="0" anchor="ctr"/>
          <a:lstStyle/>
          <a:p>
            <a:pPr indent="0" marL="0">
              <a:buNone/>
            </a:pPr>
            <a:r>
              <a:rPr lang="en-US" sz="1550" b="1" dirty="0">
                <a:solidFill>
                  <a:srgbClr val="152238"/>
                </a:solidFill>
                <a:latin typeface="Georgia" pitchFamily="34" charset="0"/>
                <a:ea typeface="Georgia" pitchFamily="34" charset="-122"/>
                <a:cs typeface="Georgia" pitchFamily="34" charset="-120"/>
              </a:rPr>
              <a:t>CloudTrail · Config · Security Hub</a:t>
            </a:r>
            <a:endParaRPr lang="en-US" sz="1550" dirty="0"/>
          </a:p>
        </p:txBody>
      </p:sp>
      <p:sp>
        <p:nvSpPr>
          <p:cNvPr id="15" name="Text 13"/>
          <p:cNvSpPr/>
          <p:nvPr/>
        </p:nvSpPr>
        <p:spPr>
          <a:xfrm>
            <a:off x="4846320" y="4032504"/>
            <a:ext cx="6400800" cy="77724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 complete record of who accessed what, with drift detection — the audit trail your IRB expects.</a:t>
            </a:r>
            <a:endParaRPr lang="en-US" sz="1250" dirty="0"/>
          </a:p>
        </p:txBody>
      </p:sp>
      <p:sp>
        <p:nvSpPr>
          <p:cNvPr id="16" name="Shape 14"/>
          <p:cNvSpPr/>
          <p:nvPr/>
        </p:nvSpPr>
        <p:spPr>
          <a:xfrm>
            <a:off x="502920" y="5020056"/>
            <a:ext cx="11183112" cy="96012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502920" y="5020056"/>
            <a:ext cx="91440" cy="960120"/>
          </a:xfrm>
          <a:prstGeom prst="rect">
            <a:avLst/>
          </a:prstGeom>
          <a:solidFill>
            <a:srgbClr val="C28F2C"/>
          </a:solidFill>
          <a:ln w="12700">
            <a:solidFill>
              <a:srgbClr val="C28F2C"/>
            </a:solidFill>
            <a:prstDash val="solid"/>
          </a:ln>
        </p:spPr>
      </p:sp>
      <p:sp>
        <p:nvSpPr>
          <p:cNvPr id="18" name="Text 16"/>
          <p:cNvSpPr/>
          <p:nvPr/>
        </p:nvSpPr>
        <p:spPr>
          <a:xfrm>
            <a:off x="777240" y="5129784"/>
            <a:ext cx="3931920" cy="731520"/>
          </a:xfrm>
          <a:prstGeom prst="rect">
            <a:avLst/>
          </a:prstGeom>
          <a:noFill/>
          <a:ln/>
        </p:spPr>
        <p:txBody>
          <a:bodyPr wrap="square" lIns="0" tIns="0" rIns="0" bIns="0" rtlCol="0" anchor="ctr"/>
          <a:lstStyle/>
          <a:p>
            <a:pPr indent="0" marL="0">
              <a:buNone/>
            </a:pPr>
            <a:r>
              <a:rPr lang="en-US" sz="1550" b="1" dirty="0">
                <a:solidFill>
                  <a:srgbClr val="152238"/>
                </a:solidFill>
                <a:latin typeface="Georgia" pitchFamily="34" charset="0"/>
                <a:ea typeface="Georgia" pitchFamily="34" charset="-122"/>
                <a:cs typeface="Georgia" pitchFamily="34" charset="-120"/>
              </a:rPr>
              <a:t>IAM Identity Center</a:t>
            </a:r>
            <a:endParaRPr lang="en-US" sz="1550" dirty="0"/>
          </a:p>
        </p:txBody>
      </p:sp>
      <p:sp>
        <p:nvSpPr>
          <p:cNvPr id="19" name="Text 17"/>
          <p:cNvSpPr/>
          <p:nvPr/>
        </p:nvSpPr>
        <p:spPr>
          <a:xfrm>
            <a:off x="4846320" y="5111496"/>
            <a:ext cx="6400800" cy="77724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Single sign-on for the team; onboarding/offboarding an analyst is one action.</a:t>
            </a:r>
            <a:endParaRPr lang="en-US" sz="1250" dirty="0"/>
          </a:p>
        </p:txBody>
      </p:sp>
      <p:sp>
        <p:nvSpPr>
          <p:cNvPr id="20" name="Text 18"/>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21" name="Text 19"/>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HOW THIS MEETS YOUR NEEDS</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Every requirement, mapped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4663440"/>
                <a:gridCol w="6519672"/>
              </a:tblGrid>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Your need</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How we deliver it</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Run 758 participants reliably</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CloudFront + ECS/Fargate scale to the cohort</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Capture GPT-4 interactions</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Firehose streams every prompt/response to S3</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Keep the raw data honest</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S3 Object Lock (WORM) — immutable</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Protect participant PII</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Glue/Lambda de-identify; Macie verifies</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Hand data BCG → HBS safely</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Lake Formation (or Clean Rooms)</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Grade quality at scale</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SageMaker Ground Truth</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Prove compliance to the IRB</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CloudTrail + Config + Security Hub</a:t>
                      </a:r>
                      <a:endParaRPr lang="en-US" sz="1350" dirty="0">
                        <a:latin typeface="Calibri" charset="0"/>
                        <a:ea typeface="Calibri" charset="0"/>
                        <a:cs typeface="Calibri" charset="0"/>
                      </a:endParaRPr>
                    </a:p>
                  </a:txBody>
                  <a:tcPr marL="91440" marR="91440" marT="45720" marB="45720" anchor="ctr">
                    <a:lnL w="12700" cap="flat" cmpd="sng" algn="ctr">
                      <a:solidFill>
                        <a:srgbClr val="DAD2C6"/>
                      </a:solidFill>
                      <a:prstDash val="solid"/>
                      <a:round/>
                      <a:headEnd type="none" w="med" len="med"/>
                      <a:tailEnd type="none" w="med" len="med"/>
                    </a:lnL>
                    <a:lnR w="12700" cap="flat" cmpd="sng" algn="ctr">
                      <a:solidFill>
                        <a:srgbClr val="DAD2C6"/>
                      </a:solidFill>
                      <a:prstDash val="solid"/>
                      <a:round/>
                      <a:headEnd type="none" w="med" len="med"/>
                      <a:tailEnd type="none" w="med" len="med"/>
                    </a:lnR>
                    <a:lnT w="12700" cap="flat" cmpd="sng" algn="ctr">
                      <a:solidFill>
                        <a:srgbClr val="DAD2C6"/>
                      </a:solidFill>
                      <a:prstDash val="solid"/>
                      <a:round/>
                      <a:headEnd type="none" w="med" len="med"/>
                      <a:tailEnd type="none" w="med" len="med"/>
                    </a:lnT>
                    <a:lnB w="12700" cap="flat" cmpd="sng" algn="ctr">
                      <a:solidFill>
                        <a:srgbClr val="DAD2C6"/>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6" name="Text 3"/>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lIns="0" tIns="0" rIns="0" bIns="0" rtlCol="0" anchor="ctr"/>
          <a:lstStyle/>
          <a:p>
            <a:pPr indent="0" marL="0">
              <a:buNone/>
            </a:pPr>
            <a:r>
              <a:rPr lang="en-US" sz="1200" b="1" spc="300" kern="0" dirty="0">
                <a:solidFill>
                  <a:srgbClr val="A51C30"/>
                </a:solidFill>
                <a:latin typeface="Calibri" pitchFamily="34" charset="0"/>
                <a:ea typeface="Calibri" pitchFamily="34" charset="-122"/>
                <a:cs typeface="Calibri" pitchFamily="34" charset="-120"/>
              </a:rPr>
              <a:t>WHAT HAPPENS NEXT</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000" b="1" dirty="0">
                <a:solidFill>
                  <a:srgbClr val="152238"/>
                </a:solidFill>
                <a:latin typeface="Georgia" pitchFamily="34" charset="0"/>
                <a:ea typeface="Georgia" pitchFamily="34" charset="-122"/>
                <a:cs typeface="Georgia" pitchFamily="34" charset="-120"/>
              </a:rPr>
              <a:t>A clear path to a running study</a:t>
            </a:r>
            <a:endParaRPr lang="en-US" sz="3000" dirty="0"/>
          </a:p>
        </p:txBody>
      </p:sp>
      <p:sp>
        <p:nvSpPr>
          <p:cNvPr id="4" name="Shape 2"/>
          <p:cNvSpPr/>
          <p:nvPr/>
        </p:nvSpPr>
        <p:spPr>
          <a:xfrm>
            <a:off x="502920" y="2103120"/>
            <a:ext cx="2103120" cy="22860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1207008" y="2377440"/>
            <a:ext cx="694944" cy="694944"/>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1207008" y="237744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502920" y="3154680"/>
            <a:ext cx="2103120" cy="365760"/>
          </a:xfrm>
          <a:prstGeom prst="rect">
            <a:avLst/>
          </a:prstGeom>
          <a:noFill/>
          <a:ln/>
        </p:spPr>
        <p:txBody>
          <a:bodyPr wrap="square" lIns="0" tIns="0" rIns="0" bIns="0" rtlCol="0" anchor="ctr"/>
          <a:lstStyle/>
          <a:p>
            <a:pPr algn="ctr" indent="0" marL="0">
              <a:buNone/>
            </a:pPr>
            <a:r>
              <a:rPr lang="en-US" sz="1700" b="1" dirty="0">
                <a:solidFill>
                  <a:srgbClr val="152238"/>
                </a:solidFill>
                <a:latin typeface="Georgia" pitchFamily="34" charset="0"/>
                <a:ea typeface="Georgia" pitchFamily="34" charset="-122"/>
                <a:cs typeface="Georgia" pitchFamily="34" charset="-120"/>
              </a:rPr>
              <a:t>Align</a:t>
            </a:r>
            <a:endParaRPr lang="en-US" sz="1700" dirty="0"/>
          </a:p>
        </p:txBody>
      </p:sp>
      <p:sp>
        <p:nvSpPr>
          <p:cNvPr id="8" name="Text 6"/>
          <p:cNvSpPr/>
          <p:nvPr/>
        </p:nvSpPr>
        <p:spPr>
          <a:xfrm>
            <a:off x="649224" y="3520440"/>
            <a:ext cx="1810512" cy="7772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Confirm IRB protocol &amp; the data schema we'll capture</a:t>
            </a:r>
            <a:endParaRPr lang="en-US" sz="1150" dirty="0"/>
          </a:p>
        </p:txBody>
      </p:sp>
      <p:sp>
        <p:nvSpPr>
          <p:cNvPr id="9" name="Shape 7"/>
          <p:cNvSpPr/>
          <p:nvPr/>
        </p:nvSpPr>
        <p:spPr>
          <a:xfrm>
            <a:off x="2770632" y="2103120"/>
            <a:ext cx="2103120" cy="22860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3474720" y="2377440"/>
            <a:ext cx="694944" cy="694944"/>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1" name="Text 9"/>
          <p:cNvSpPr/>
          <p:nvPr/>
        </p:nvSpPr>
        <p:spPr>
          <a:xfrm>
            <a:off x="3474720" y="237744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2770632" y="3154680"/>
            <a:ext cx="2103120" cy="365760"/>
          </a:xfrm>
          <a:prstGeom prst="rect">
            <a:avLst/>
          </a:prstGeom>
          <a:noFill/>
          <a:ln/>
        </p:spPr>
        <p:txBody>
          <a:bodyPr wrap="square" lIns="0" tIns="0" rIns="0" bIns="0" rtlCol="0" anchor="ctr"/>
          <a:lstStyle/>
          <a:p>
            <a:pPr algn="ctr" indent="0" marL="0">
              <a:buNone/>
            </a:pPr>
            <a:r>
              <a:rPr lang="en-US" sz="1700" b="1" dirty="0">
                <a:solidFill>
                  <a:srgbClr val="152238"/>
                </a:solidFill>
                <a:latin typeface="Georgia" pitchFamily="34" charset="0"/>
                <a:ea typeface="Georgia" pitchFamily="34" charset="-122"/>
                <a:cs typeface="Georgia" pitchFamily="34" charset="-120"/>
              </a:rPr>
              <a:t>Agree</a:t>
            </a:r>
            <a:endParaRPr lang="en-US" sz="1700" dirty="0"/>
          </a:p>
        </p:txBody>
      </p:sp>
      <p:sp>
        <p:nvSpPr>
          <p:cNvPr id="13" name="Text 11"/>
          <p:cNvSpPr/>
          <p:nvPr/>
        </p:nvSpPr>
        <p:spPr>
          <a:xfrm>
            <a:off x="2916936" y="3520440"/>
            <a:ext cx="1810512" cy="7772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BCG data-sharing agreement &amp; access model</a:t>
            </a:r>
            <a:endParaRPr lang="en-US" sz="1150" dirty="0"/>
          </a:p>
        </p:txBody>
      </p:sp>
      <p:sp>
        <p:nvSpPr>
          <p:cNvPr id="14" name="Shape 12"/>
          <p:cNvSpPr/>
          <p:nvPr/>
        </p:nvSpPr>
        <p:spPr>
          <a:xfrm>
            <a:off x="5038344" y="2103120"/>
            <a:ext cx="2103120" cy="22860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5742432" y="2377440"/>
            <a:ext cx="694944" cy="694944"/>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16" name="Text 14"/>
          <p:cNvSpPr/>
          <p:nvPr/>
        </p:nvSpPr>
        <p:spPr>
          <a:xfrm>
            <a:off x="5742432" y="237744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5038344" y="3154680"/>
            <a:ext cx="2103120" cy="365760"/>
          </a:xfrm>
          <a:prstGeom prst="rect">
            <a:avLst/>
          </a:prstGeom>
          <a:noFill/>
          <a:ln/>
        </p:spPr>
        <p:txBody>
          <a:bodyPr wrap="square" lIns="0" tIns="0" rIns="0" bIns="0" rtlCol="0" anchor="ctr"/>
          <a:lstStyle/>
          <a:p>
            <a:pPr algn="ctr" indent="0" marL="0">
              <a:buNone/>
            </a:pPr>
            <a:r>
              <a:rPr lang="en-US" sz="1700" b="1" dirty="0">
                <a:solidFill>
                  <a:srgbClr val="152238"/>
                </a:solidFill>
                <a:latin typeface="Georgia" pitchFamily="34" charset="0"/>
                <a:ea typeface="Georgia" pitchFamily="34" charset="-122"/>
                <a:cs typeface="Georgia" pitchFamily="34" charset="-120"/>
              </a:rPr>
              <a:t>Build</a:t>
            </a:r>
            <a:endParaRPr lang="en-US" sz="1700" dirty="0"/>
          </a:p>
        </p:txBody>
      </p:sp>
      <p:sp>
        <p:nvSpPr>
          <p:cNvPr id="18" name="Text 16"/>
          <p:cNvSpPr/>
          <p:nvPr/>
        </p:nvSpPr>
        <p:spPr>
          <a:xfrm>
            <a:off x="5184648" y="3520440"/>
            <a:ext cx="1810512" cy="7772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We stand up the secure landing zone (~1–2 weeks)</a:t>
            </a:r>
            <a:endParaRPr lang="en-US" sz="1150" dirty="0"/>
          </a:p>
        </p:txBody>
      </p:sp>
      <p:sp>
        <p:nvSpPr>
          <p:cNvPr id="19" name="Shape 17"/>
          <p:cNvSpPr/>
          <p:nvPr/>
        </p:nvSpPr>
        <p:spPr>
          <a:xfrm>
            <a:off x="7306056" y="2103120"/>
            <a:ext cx="2103120" cy="22860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8010144" y="2377440"/>
            <a:ext cx="694944" cy="694944"/>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21" name="Text 19"/>
          <p:cNvSpPr/>
          <p:nvPr/>
        </p:nvSpPr>
        <p:spPr>
          <a:xfrm>
            <a:off x="8010144" y="237744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7306056" y="3154680"/>
            <a:ext cx="2103120" cy="365760"/>
          </a:xfrm>
          <a:prstGeom prst="rect">
            <a:avLst/>
          </a:prstGeom>
          <a:noFill/>
          <a:ln/>
        </p:spPr>
        <p:txBody>
          <a:bodyPr wrap="square" lIns="0" tIns="0" rIns="0" bIns="0" rtlCol="0" anchor="ctr"/>
          <a:lstStyle/>
          <a:p>
            <a:pPr algn="ctr" indent="0" marL="0">
              <a:buNone/>
            </a:pPr>
            <a:r>
              <a:rPr lang="en-US" sz="1700" b="1" dirty="0">
                <a:solidFill>
                  <a:srgbClr val="152238"/>
                </a:solidFill>
                <a:latin typeface="Georgia" pitchFamily="34" charset="0"/>
                <a:ea typeface="Georgia" pitchFamily="34" charset="-122"/>
                <a:cs typeface="Georgia" pitchFamily="34" charset="-120"/>
              </a:rPr>
              <a:t>Pilot</a:t>
            </a:r>
            <a:endParaRPr lang="en-US" sz="1700" dirty="0"/>
          </a:p>
        </p:txBody>
      </p:sp>
      <p:sp>
        <p:nvSpPr>
          <p:cNvPr id="23" name="Text 21"/>
          <p:cNvSpPr/>
          <p:nvPr/>
        </p:nvSpPr>
        <p:spPr>
          <a:xfrm>
            <a:off x="7452360" y="3520440"/>
            <a:ext cx="1810512" cy="7772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Dry run with a small cohort end to end</a:t>
            </a:r>
            <a:endParaRPr lang="en-US" sz="1150" dirty="0"/>
          </a:p>
        </p:txBody>
      </p:sp>
      <p:sp>
        <p:nvSpPr>
          <p:cNvPr id="24" name="Shape 22"/>
          <p:cNvSpPr/>
          <p:nvPr/>
        </p:nvSpPr>
        <p:spPr>
          <a:xfrm>
            <a:off x="9573768" y="2103120"/>
            <a:ext cx="2103120" cy="2286000"/>
          </a:xfrm>
          <a:prstGeom prst="rect">
            <a:avLst/>
          </a:prstGeom>
          <a:solidFill>
            <a:srgbClr val="FFFFFF"/>
          </a:solidFill>
          <a:ln w="12700">
            <a:solidFill>
              <a:srgbClr val="DAD2C6"/>
            </a:solidFill>
            <a:prstDash val="solid"/>
          </a:ln>
          <a:effectLst>
            <a:outerShdw sx="100000" sy="100000" kx="0" ky="0" algn="bl" rotWithShape="0" blurRad="88900" dist="38100" dir="8100000">
              <a:srgbClr val="000000">
                <a:alpha val="16000"/>
              </a:srgbClr>
            </a:outerShdw>
          </a:effectLst>
        </p:spPr>
      </p:sp>
      <p:sp>
        <p:nvSpPr>
          <p:cNvPr id="25" name="Shape 23"/>
          <p:cNvSpPr/>
          <p:nvPr/>
        </p:nvSpPr>
        <p:spPr>
          <a:xfrm>
            <a:off x="10277856" y="2377440"/>
            <a:ext cx="694944" cy="694944"/>
          </a:xfrm>
          <a:prstGeom prst="ellipse">
            <a:avLst/>
          </a:prstGeom>
          <a:solidFill>
            <a:srgbClr val="A51C30"/>
          </a:solidFill>
          <a:ln w="12700">
            <a:solidFill>
              <a:srgbClr val="A51C30"/>
            </a:solidFill>
            <a:prstDash val="solid"/>
          </a:ln>
          <a:effectLst>
            <a:outerShdw sx="100000" sy="100000" kx="0" ky="0" algn="bl" rotWithShape="0" blurRad="88900" dist="38100" dir="8100000">
              <a:srgbClr val="000000">
                <a:alpha val="16000"/>
              </a:srgbClr>
            </a:outerShdw>
          </a:effectLst>
        </p:spPr>
      </p:sp>
      <p:sp>
        <p:nvSpPr>
          <p:cNvPr id="26" name="Text 24"/>
          <p:cNvSpPr/>
          <p:nvPr/>
        </p:nvSpPr>
        <p:spPr>
          <a:xfrm>
            <a:off x="10277856" y="237744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7" name="Text 25"/>
          <p:cNvSpPr/>
          <p:nvPr/>
        </p:nvSpPr>
        <p:spPr>
          <a:xfrm>
            <a:off x="9573768" y="3154680"/>
            <a:ext cx="2103120" cy="365760"/>
          </a:xfrm>
          <a:prstGeom prst="rect">
            <a:avLst/>
          </a:prstGeom>
          <a:noFill/>
          <a:ln/>
        </p:spPr>
        <p:txBody>
          <a:bodyPr wrap="square" lIns="0" tIns="0" rIns="0" bIns="0" rtlCol="0" anchor="ctr"/>
          <a:lstStyle/>
          <a:p>
            <a:pPr algn="ctr" indent="0" marL="0">
              <a:buNone/>
            </a:pPr>
            <a:r>
              <a:rPr lang="en-US" sz="1700" b="1" dirty="0">
                <a:solidFill>
                  <a:srgbClr val="152238"/>
                </a:solidFill>
                <a:latin typeface="Georgia" pitchFamily="34" charset="0"/>
                <a:ea typeface="Georgia" pitchFamily="34" charset="-122"/>
                <a:cs typeface="Georgia" pitchFamily="34" charset="-120"/>
              </a:rPr>
              <a:t>Launch</a:t>
            </a:r>
            <a:endParaRPr lang="en-US" sz="1700" dirty="0"/>
          </a:p>
        </p:txBody>
      </p:sp>
      <p:sp>
        <p:nvSpPr>
          <p:cNvPr id="28" name="Text 26"/>
          <p:cNvSpPr/>
          <p:nvPr/>
        </p:nvSpPr>
        <p:spPr>
          <a:xfrm>
            <a:off x="9720072" y="3520440"/>
            <a:ext cx="1810512" cy="777240"/>
          </a:xfrm>
          <a:prstGeom prst="rect">
            <a:avLst/>
          </a:prstGeom>
          <a:noFill/>
          <a:ln/>
        </p:spPr>
        <p:txBody>
          <a:bodyPr wrap="square" lIns="0" tIns="0" rIns="0" bIns="0" rtlCol="0" anchor="ctr"/>
          <a:lstStyle/>
          <a:p>
            <a:pPr algn="ctr" indent="0" marL="0">
              <a:buNone/>
            </a:pPr>
            <a:r>
              <a:rPr lang="en-US" sz="1150" dirty="0">
                <a:solidFill>
                  <a:srgbClr val="2B2B2B"/>
                </a:solidFill>
                <a:latin typeface="Calibri" pitchFamily="34" charset="0"/>
                <a:ea typeface="Calibri" pitchFamily="34" charset="-122"/>
                <a:cs typeface="Calibri" pitchFamily="34" charset="-120"/>
              </a:rPr>
              <a:t>Full data collection, with monitoring</a:t>
            </a:r>
            <a:endParaRPr lang="en-US" sz="1150" dirty="0"/>
          </a:p>
        </p:txBody>
      </p:sp>
      <p:sp>
        <p:nvSpPr>
          <p:cNvPr id="29" name="Shape 27"/>
          <p:cNvSpPr/>
          <p:nvPr/>
        </p:nvSpPr>
        <p:spPr>
          <a:xfrm>
            <a:off x="502920" y="4800600"/>
            <a:ext cx="11183112" cy="685800"/>
          </a:xfrm>
          <a:prstGeom prst="rect">
            <a:avLst/>
          </a:prstGeom>
          <a:solidFill>
            <a:srgbClr val="EFE3D6"/>
          </a:solidFill>
          <a:ln w="12700">
            <a:solidFill>
              <a:srgbClr val="C28F2C"/>
            </a:solidFill>
            <a:prstDash val="solid"/>
          </a:ln>
        </p:spPr>
      </p:sp>
      <p:sp>
        <p:nvSpPr>
          <p:cNvPr id="30" name="Text 28"/>
          <p:cNvSpPr/>
          <p:nvPr/>
        </p:nvSpPr>
        <p:spPr>
          <a:xfrm>
            <a:off x="731520" y="4800600"/>
            <a:ext cx="10698480" cy="685800"/>
          </a:xfrm>
          <a:prstGeom prst="rect">
            <a:avLst/>
          </a:prstGeom>
          <a:noFill/>
          <a:ln/>
        </p:spPr>
        <p:txBody>
          <a:bodyPr wrap="square" lIns="0" tIns="0" rIns="0" bIns="0" rtlCol="0" anchor="ctr"/>
          <a:lstStyle/>
          <a:p>
            <a:pPr indent="0" marL="0">
              <a:buNone/>
            </a:pPr>
            <a:r>
              <a:rPr lang="en-US" sz="1300" b="1" dirty="0">
                <a:solidFill>
                  <a:srgbClr val="7C1523"/>
                </a:solidFill>
                <a:latin typeface="Calibri" pitchFamily="34" charset="0"/>
                <a:ea typeface="Calibri" pitchFamily="34" charset="-122"/>
                <a:cs typeface="Calibri" pitchFamily="34" charset="-120"/>
              </a:rPr>
              <a:t>What we need from you:  </a:t>
            </a:r>
            <a:pPr indent="0" marL="0">
              <a:buNone/>
            </a:pPr>
            <a:r>
              <a:rPr lang="en-US" sz="1300" dirty="0">
                <a:solidFill>
                  <a:srgbClr val="2B2B2B"/>
                </a:solidFill>
                <a:latin typeface="Calibri" pitchFamily="34" charset="0"/>
                <a:ea typeface="Calibri" pitchFamily="34" charset="-122"/>
                <a:cs typeface="Calibri" pitchFamily="34" charset="-120"/>
              </a:rPr>
              <a:t>the task list &amp; data fields, your IRB protocol number, and an intro to BCG's data owner.</a:t>
            </a:r>
            <a:endParaRPr lang="en-US" sz="1300" dirty="0"/>
          </a:p>
        </p:txBody>
      </p:sp>
      <p:sp>
        <p:nvSpPr>
          <p:cNvPr id="31" name="Text 29"/>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E6E6E"/>
                </a:solidFill>
                <a:latin typeface="Calibri" pitchFamily="34" charset="0"/>
                <a:ea typeface="Calibri" pitchFamily="34" charset="-122"/>
                <a:cs typeface="Calibri" pitchFamily="34" charset="-120"/>
              </a:rPr>
              <a:t>HBS Solutions Architecture  ·  AWS proposal</a:t>
            </a:r>
            <a:endParaRPr lang="en-US" sz="900" dirty="0"/>
          </a:p>
        </p:txBody>
      </p:sp>
      <p:sp>
        <p:nvSpPr>
          <p:cNvPr id="32" name="Text 30"/>
          <p:cNvSpPr/>
          <p:nvPr/>
        </p:nvSpPr>
        <p:spPr>
          <a:xfrm>
            <a:off x="11228832" y="6473952"/>
            <a:ext cx="457200" cy="274320"/>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rgbClr val="A51C30"/>
          </a:solidFill>
          <a:ln/>
        </p:spPr>
      </p:sp>
      <p:sp>
        <p:nvSpPr>
          <p:cNvPr id="3" name="Text 1"/>
          <p:cNvSpPr/>
          <p:nvPr/>
        </p:nvSpPr>
        <p:spPr>
          <a:xfrm>
            <a:off x="868680" y="2103120"/>
            <a:ext cx="10515600" cy="18288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Your data, protected.</a:t>
            </a:r>
            <a:endParaRPr lang="en-US" sz="4000" dirty="0"/>
          </a:p>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Your study, at scale.</a:t>
            </a:r>
            <a:endParaRPr lang="en-US" sz="4000" dirty="0"/>
          </a:p>
        </p:txBody>
      </p:sp>
      <p:sp>
        <p:nvSpPr>
          <p:cNvPr id="4" name="Text 2"/>
          <p:cNvSpPr/>
          <p:nvPr/>
        </p:nvSpPr>
        <p:spPr>
          <a:xfrm>
            <a:off x="896112" y="4069080"/>
            <a:ext cx="10058400" cy="548640"/>
          </a:xfrm>
          <a:prstGeom prst="rect">
            <a:avLst/>
          </a:prstGeom>
          <a:noFill/>
          <a:ln/>
        </p:spPr>
        <p:txBody>
          <a:bodyPr wrap="square" lIns="0" tIns="0" rIns="0" bIns="0" rtlCol="0" anchor="ctr"/>
          <a:lstStyle/>
          <a:p>
            <a:pPr indent="0" marL="0">
              <a:buNone/>
            </a:pPr>
            <a:r>
              <a:rPr lang="en-US" sz="2000" i="1" dirty="0">
                <a:solidFill>
                  <a:srgbClr val="C28F2C"/>
                </a:solidFill>
                <a:latin typeface="Calibri" pitchFamily="34" charset="0"/>
                <a:ea typeface="Calibri" pitchFamily="34" charset="-122"/>
                <a:cs typeface="Calibri" pitchFamily="34" charset="-120"/>
              </a:rPr>
              <a:t>Let's build it together.</a:t>
            </a:r>
            <a:endParaRPr lang="en-US" sz="2000" dirty="0"/>
          </a:p>
        </p:txBody>
      </p:sp>
      <p:sp>
        <p:nvSpPr>
          <p:cNvPr id="5" name="Text 3"/>
          <p:cNvSpPr/>
          <p:nvPr/>
        </p:nvSpPr>
        <p:spPr>
          <a:xfrm>
            <a:off x="896112" y="5852160"/>
            <a:ext cx="10058400" cy="365760"/>
          </a:xfrm>
          <a:prstGeom prst="rect">
            <a:avLst/>
          </a:prstGeom>
          <a:noFill/>
          <a:ln/>
        </p:spPr>
        <p:txBody>
          <a:bodyPr wrap="square" lIns="0" tIns="0" rIns="0" bIns="0" rtlCol="0" anchor="ctr"/>
          <a:lstStyle/>
          <a:p>
            <a:pPr indent="0" marL="0">
              <a:buNone/>
            </a:pPr>
            <a:r>
              <a:rPr lang="en-US" sz="1300" dirty="0">
                <a:solidFill>
                  <a:srgbClr val="9AA3B2"/>
                </a:solidFill>
                <a:latin typeface="Calibri" pitchFamily="34" charset="0"/>
                <a:ea typeface="Calibri" pitchFamily="34" charset="-122"/>
                <a:cs typeface="Calibri" pitchFamily="34" charset="-120"/>
              </a:rPr>
              <a:t>HBS Solutions Architecture  ·  swinney@hbs.edu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&amp; Scaling Your AI Field Experiment on AWS</dc:title>
  <dc:subject>PptxGenJS Presentation</dc:subject>
  <dc:creator>HBS Solutions Architecture</dc:creator>
  <cp:lastModifiedBy>HBS Solutions Architecture</cp:lastModifiedBy>
  <cp:revision>1</cp:revision>
  <dcterms:created xsi:type="dcterms:W3CDTF">2026-06-14T00:55:00Z</dcterms:created>
  <dcterms:modified xsi:type="dcterms:W3CDTF">2026-06-14T00:55:00Z</dcterms:modified>
</cp:coreProperties>
</file>